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ellular-cosmetics.com/" TargetMode="External"/><Relationship Id="rId3" Type="http://schemas.openxmlformats.org/officeDocument/2006/relationships/hyperlink" Target="https://atalieneskincare.com/" TargetMode="External"/><Relationship Id="rId4" Type="http://schemas.openxmlformats.org/officeDocument/2006/relationships/hyperlink" Target="https://www.pravadaprivatelabel.com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Avenir Next"/>
              </a:rPr>
              <a:t>§ 00 · Sourcing memo ·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6B5D4C"/>
                </a:solidFill>
                <a:latin typeface="Avenir Next"/>
              </a:rPr>
              <a:t>MVP supplier shortlist · 5 side effects · 15 vendors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600" b="0" i="0">
                <a:solidFill>
                  <a:srgbClr val="1A1512"/>
                </a:solidFill>
                <a:latin typeface="Cormorant Garamond"/>
              </a:rPr>
              <a:t>Who should </a:t>
            </a:r>
            <a:r>
              <a:rPr sz="5600" b="0" i="1">
                <a:solidFill>
                  <a:srgbClr val="1A1512"/>
                </a:solidFill>
                <a:latin typeface="Cormorant Garamond"/>
              </a:rPr>
              <a:t>actually</a:t>
            </a:r>
            <a:r>
              <a:rPr sz="5600" b="0" i="0">
                <a:solidFill>
                  <a:srgbClr val="1A1512"/>
                </a:solidFill>
                <a:latin typeface="Cormorant Garamond"/>
              </a:rPr>
              <a:t> make</a:t>
            </a:r>
          </a:p>
          <a:p>
            <a:pPr algn="l">
              <a:lnSpc>
                <a:spcPct val="105000"/>
              </a:lnSpc>
            </a:pPr>
            <a:r>
              <a:rPr sz="5600" b="0" i="0">
                <a:solidFill>
                  <a:srgbClr val="1A1512"/>
                </a:solidFill>
                <a:latin typeface="Cormorant Garamond"/>
              </a:rPr>
              <a:t>the first 100 units?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Avenir Next"/>
              </a:rPr>
              <a:t>Three white-label suppliers per side effect — every one passes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Avenir Next"/>
              </a:rPr>
              <a:t>the MOQ ≤100 / total MOQ &lt;$250 gate so we can test market pull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Avenir Next"/>
              </a:rPr>
              <a:t>before committing capital.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69280"/>
            <a:ext cx="6858000" cy="5029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5779008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FIVE PROBLEMS  </a:t>
            </a:r>
            <a:r>
              <a:rPr sz="950" b="0" i="0">
                <a:solidFill>
                  <a:srgbClr val="1A1512"/>
                </a:solidFill>
                <a:latin typeface="Avenir Next"/>
              </a:rPr>
              <a:t>Ozempic face · Halitosis · Hair loss · Nausea · Nutrient depletion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For Zachary Poll · Prepared 2026-05-03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Avenir Next"/>
              </a:rPr>
              <a:t>§ 00 · Sourcing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How every supplier on the next 10 slides was filtered.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HARD GATE — MOQ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Avenir Next"/>
              </a:rPr>
              <a:t>Minimum order quantity ≤ 100 units OR total MOQ spend &lt; $250. This is the cash-outlay ceiling that lets us run a real market test on each side effect without committing &gt;$1,500 of inventory capital.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HARD GATE — BRANDING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8056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8056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Avenir Next"/>
              </a:rPr>
              <a:t>Supplier must be white-label / private-label capable: Aplomb's name, label, dropper/bottle, and INCI (where required) on the finished good. No co-branded retail products, no contract-manufacturer-of-record disclosure required.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8388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SOFT GATE — EFFICACY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8388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18388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Avenir Next"/>
              </a:rPr>
              <a:t>Alleviation score ≥ 60 / 100 against the specific side effect. Score is a weighted blend: 40% clinical evidence for the active(s), 25% product specificity, 25% supplier reputation, 10% regulatory cleanliness.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46320"/>
            <a:ext cx="11091672" cy="1417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ALLEVIATION SCORE — RUBRIC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5285232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5413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7A3D14"/>
                </a:solidFill>
                <a:latin typeface="Avenir Next"/>
              </a:rPr>
              <a:t>40% </a:t>
            </a:r>
            <a:r>
              <a:rPr sz="1100" b="0" i="0">
                <a:solidFill>
                  <a:srgbClr val="1A1512"/>
                </a:solidFill>
                <a:latin typeface="Avenir Next"/>
              </a:rPr>
              <a:t>clinical evidence for the active ingredients on this side effect    </a:t>
            </a:r>
            <a:r>
              <a:rPr sz="1100" b="1" i="0">
                <a:solidFill>
                  <a:srgbClr val="7A3D14"/>
                </a:solidFill>
                <a:latin typeface="Avenir Next"/>
              </a:rPr>
              <a:t>·  25% </a:t>
            </a:r>
            <a:r>
              <a:rPr sz="1100" b="0" i="0">
                <a:solidFill>
                  <a:srgbClr val="1A1512"/>
                </a:solidFill>
                <a:latin typeface="Avenir Next"/>
              </a:rPr>
              <a:t>product specificity (targeted blend &gt; generic)    </a:t>
            </a:r>
          </a:p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7A3D14"/>
                </a:solidFill>
                <a:latin typeface="Avenir Next"/>
              </a:rPr>
              <a:t>25% </a:t>
            </a:r>
            <a:r>
              <a:rPr sz="1100" b="0" i="0">
                <a:solidFill>
                  <a:srgbClr val="1A1512"/>
                </a:solidFill>
                <a:latin typeface="Avenir Next"/>
              </a:rPr>
              <a:t>supplier reputation (years operating, certifications, reviews)    </a:t>
            </a:r>
            <a:r>
              <a:rPr sz="1100" b="1" i="0">
                <a:solidFill>
                  <a:srgbClr val="7A3D14"/>
                </a:solidFill>
                <a:latin typeface="Avenir Next"/>
              </a:rPr>
              <a:t>·  10% </a:t>
            </a:r>
            <a:r>
              <a:rPr sz="1100" b="0" i="0">
                <a:solidFill>
                  <a:srgbClr val="1A1512"/>
                </a:solidFill>
                <a:latin typeface="Avenir Next"/>
              </a:rPr>
              <a:t>regulatory cleanliness (no FDA warning letters, ingredients GRAS / OTC-legal)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Aplomb — Supplier shortlist for MVP market test · For Zachary Poll ·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Avenir Next"/>
              </a:rPr>
              <a:t>§ 01 · Side effect 1 of 5 · Topical serum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Ozempic 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Avenir Next"/>
              </a:rPr>
              <a:t>Rapid weight loss on GLP-1s (15–20% body mass in 6–12 months) depletes facial fat pads faster than skin can retract, producing the gaunt, hollow, prematurely-aged look popularized as 'Ozempic face'.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Subcutaneous fat loss in malar, temporal and buccal pads (volume depletion).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Concurrent collagen / elastin loss from caloric restriction (dermal thinning).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Reduced glycation activity but accelerated visible aging (barrier + GAG drop).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Topical peptide serums (Matrixyl 3000, GHK-Cu, SNAP-8) — stimulate collagen + reduce fine lines.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Hyaluronic acid serums + ceramide moisturizers — restore barrier and apparent volume.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Retinoid analogs (HPR, retinaldehyde) — accelerate dermal remodeling without Rx.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SPF 30+ daily — UV is the largest modifiable amplifier of GLP-1-driven skin aging.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Avenir Next"/>
              </a:rPr>
              <a:t>§ 01 · Side effect 1 of 5 · Topical serum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Ozempic Face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Avenir Next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1597"/>
                <a:gridCol w="1432674"/>
                <a:gridCol w="1894827"/>
                <a:gridCol w="600798"/>
                <a:gridCol w="785660"/>
                <a:gridCol w="924306"/>
                <a:gridCol w="693229"/>
                <a:gridCol w="3558578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Avenir Next"/>
                        </a:rPr>
                        <a:t>Cellular Cosmetics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Avenir Next"/>
                          <a:hlinkClick r:id="rId2"/>
                        </a:rPr>
                        <a:t>cellular-cosmetics.com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Avenir Next"/>
                        </a:rPr>
                        <a:t>Peptide serum w/ Matrixyl 3000 + Synthe'6, shelf-ready, dropper-bottle filled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Avenir Next"/>
                        </a:rPr>
                        <a:t>10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Avenir Next"/>
                        </a:rPr>
                        <a:t>$25.00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Avenir Next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Avenir Next"/>
                        </a:rPr>
                        <a:t>84</a:t>
                      </a:r>
                    </a:p>
                  </a:txBody>
                  <a:tcPr>
                    <a:solidFill>
                      <a:srgbClr val="E6C99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Avenir Next"/>
                        </a:rPr>
                        <a:t>Australia. ONLY vendor with published INCI. 10-unit MOQ ideal for sampling. 4–8 day lead. Budget freight to US.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Avenir Next"/>
                        </a:rPr>
                        <a:t>Ataliene Skincare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Avenir Next"/>
                          <a:hlinkClick r:id="rId3"/>
                        </a:rPr>
                        <a:t>atalieneskincare.com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Avenir Next"/>
                        </a:rPr>
                        <a:t>4-peptide anti-aging serum + HA + botanicals; USA-filled, esthetician-grade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Avenir Next"/>
                        </a:rPr>
                        <a:t>12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Avenir Next"/>
                        </a:rPr>
                        <a:t>$27.50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Avenir Next"/>
                        </a:rPr>
                        <a:t>$330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Avenir Next"/>
                        </a:rPr>
                        <a:t>76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Avenir Next"/>
                        </a:rPr>
                        <a:t>USA mfr, fastest reorders (2 wk). $50 label set-up per SKU. INCI not published — request before order.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Avenir Next"/>
                        </a:rPr>
                        <a:t>Pravada Private Label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Avenir Next"/>
                          <a:hlinkClick r:id="rId4"/>
                        </a:rPr>
                        <a:t>pravadaprivatelabel.com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Avenir Next"/>
                        </a:rPr>
                        <a:t>Peptide+ Firming Serum (5 unnamed peptides); 70% organic; R&amp;D customization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Avenir Next"/>
                        </a:rPr>
                        <a:t>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Avenir Next"/>
                        </a:rPr>
                        <a:t>$39.00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Avenir Next"/>
                        </a:rPr>
                        <a:t>$1,950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Avenir Next"/>
                        </a:rPr>
                        <a:t>71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Avenir Next"/>
                        </a:rPr>
                        <a:t>Canada. 20-yr salon/spa heritage. Scales 50 → 200K units. INCI opaque but peptides swappable on request.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Avenir Next"/>
              </a:rPr>
              <a:t>Cellular Cosmetics</a:t>
            </a:r>
            <a:r>
              <a:rPr sz="1100" b="0" i="0">
                <a:solidFill>
                  <a:srgbClr val="1A1512"/>
                </a:solidFill>
                <a:latin typeface="Avenir Next"/>
              </a:rPr>
              <a:t> · score 84/100 · MOQ 10 · $25.00/unit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Avenir Next"/>
              </a:rPr>
              <a:t>§ 02 · Side effect 2 of 5 · Zinc + chlorhexidine lozenge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Halitosis ("Ozempic breath")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Avenir Next"/>
              </a:rPr>
              <a:t>~30% of Ozempic users self-report bad breath (ADA 2025). Three converging mechanisms: hyposalivation (dry mouth), ketosis-driven acetone breath, and gastric stasis fermentation. Persistent while on the drug.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Hyposalivation: GLP-1 receptor activity in salivary glands reduces flow → less buffering of oral bacteria.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Ketosis: caloric deficit → acetone + isoprene exhalation (fruity / metallic odor).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Gastric stasis: delayed emptying → fermentation gases (eructation in ~9% per Novo's STEP-1).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Zinc gluconate / acetate lozenges — neutralize volatile sulfur compounds (VSCs) at the source.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Xylitol mints / gum — stimulate saliva, inhibit S. mutans biofilm.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Chlorhexidine 0.12% rinses (short courses) — reduce anaerobic load (Rx in some markets, OTC elsewhere).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S. salivarius K12 oral probiotics — repopulate competitive flora.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Avenir Next"/>
              </a:rPr>
              <a:t>§ 02 · Side effect 2 of 5 · Zinc + chlorhexidine lozenge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Halitosis ("Ozempic breath")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Avenir Next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1597"/>
                <a:gridCol w="1432674"/>
                <a:gridCol w="1894827"/>
                <a:gridCol w="600798"/>
                <a:gridCol w="785660"/>
                <a:gridCol w="924306"/>
                <a:gridCol w="693229"/>
                <a:gridCol w="3558578"/>
              </a:tblGrid>
              <a:tr h="32004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Aplomb — Supplier shortlist for MVP market test · For Zachary Poll ·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Avenir Next"/>
              </a:rPr>
              <a:t>§ 03 · Side effect 3 of 5 · Oral biotin + collagen capsule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Hair Loss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Avenir Next"/>
              </a:rPr>
              <a:t>Telogen effluvium — diffuse shedding 2–4 months after rapid weight loss begins. Affects ~6–13% of GLP-1 users (Shah 2024). Compounded by reduced protein/micronutrient intake under appetite suppression.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Stress shock from rapid caloric deficit shifts hair follicles from anagen to telogen phase prematurely.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Sub-clinical iron, zinc, vitamin D, B12 deficiencies common under reduced food intake.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Marine collagen / amino-acid building blocks (cysteine, methionine) drop with low-protein eating patterns.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Biotin (5–10 mg/day) — supports keratin synthesis; strongest evidence in deficient subjects.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Marine collagen peptides (10g/day) — provide hair-building amino acids.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Iron + vitamin C (in deficient subjects only — test first).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Saw palmetto + DHT-related blends — emerging evidence for androgenetic component.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Avenir Next"/>
              </a:rPr>
              <a:t>§ 03 · Side effect 3 of 5 · Oral biotin + collagen capsule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Hair Loss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Avenir Next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1597"/>
                <a:gridCol w="1432674"/>
                <a:gridCol w="1894827"/>
                <a:gridCol w="600798"/>
                <a:gridCol w="785660"/>
                <a:gridCol w="924306"/>
                <a:gridCol w="693229"/>
                <a:gridCol w="3558578"/>
              </a:tblGrid>
              <a:tr h="32004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Aplomb — Supplier shortlist for MVP market test · For Zachary Poll ·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Avenir Next"/>
              </a:rPr>
              <a:t>§ 04 · Side effect 4 of 5 · Ginger + B6 chew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Nausea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Avenir Next"/>
              </a:rPr>
              <a:t>The single most common GLP-1 side effect — ~24–44% of users experience nausea, especially during dose escalation. Driven by delayed gastric emptying. Most-cited reason for discontinuation in the first 8 weeks.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GLP-1 agonists slow gastric emptying by 30–70% — food sits longer, distends the stomach, triggers vagal nausea signals.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Central CNS effects on the area postrema also contribute (same brainstem region as motion sickness).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Worst during titration (week 1–2 of each dose step); tolerance often develops over 4–8 weeks.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Ginger root (1–1.5 g/day) — RCT-validated for chemo, pregnancy, and post-op nausea.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Vitamin B6 (pyridoxine, 25–75 mg) — first-line for morning sickness; synergistic with ginger.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Acupressure wristbands (P6 / Nei-Kuan) — FDA-cleared Class I device for nausea.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Peppermint oil / lozenges — modest relief via anti-spasmodic effect on gastric muscle.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Avenir Next"/>
              </a:rPr>
              <a:t>§ 04 · Side effect 4 of 5 · Ginger + B6 chew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Nausea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Avenir Next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1597"/>
                <a:gridCol w="1432674"/>
                <a:gridCol w="1894827"/>
                <a:gridCol w="600798"/>
                <a:gridCol w="785660"/>
                <a:gridCol w="924306"/>
                <a:gridCol w="693229"/>
                <a:gridCol w="3558578"/>
              </a:tblGrid>
              <a:tr h="32004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Aplomb — Supplier shortlist for MVP market test · For Zachary Poll ·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Avenir Next"/>
              </a:rPr>
              <a:t>§ 05 · Side effect 5 of 5 · GLP-1 targeted multivitamin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Nutrient Depletion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Avenir Next"/>
              </a:rPr>
              <a:t>Reduced caloric intake (often 1,000–1,200 kcal/day) creates predictable micronutrient gaps. ~13–22% of GLP-1 users develop documented deficiencies. Compounds the muscle-loss and hair-thinning problems.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Reduced food volume → reduced intake of B12, magnesium, potassium, vitamin D, K2, iodine.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Loss of food preferences (anhedonia) further narrows the nutrient base actually consumed.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GLP-1 receptor activity in pancreas + gut may reduce absorption efficiency for some micronutrients.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GLP-1-targeted multivitamin: B-complex (esp. B12 methylcobalamin), Mg glycinate, K2 (MK-7), D3.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Electrolyte sticks (Na + K + Mg) — counter the hypovolemia / lightheadedness common in week 1–4.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Whey or plant protein shakes (20–30g) — supplement protein intake (often &lt;60g/day on GLP-1).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•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Comprehensive labs (CBC, CMP, B12, vit D, ferritin) every 3–6 months while on therapy.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Avenir Next"/>
              </a:rPr>
              <a:t>§ 05 · Side effect 5 of 5 · GLP-1 targeted multivitamin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Nutrient Depletion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Avenir Next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1597"/>
                <a:gridCol w="1432674"/>
                <a:gridCol w="1894827"/>
                <a:gridCol w="600798"/>
                <a:gridCol w="785660"/>
                <a:gridCol w="924306"/>
                <a:gridCol w="693229"/>
                <a:gridCol w="3558578"/>
              </a:tblGrid>
              <a:tr h="32004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Avenir Next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Aplomb — Supplier shortlist for MVP market test · For Zachary Poll ·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Avenir Next"/>
              </a:rPr>
              <a:t>§ 06 ·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Cross-cutting recommendations.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1091672" cy="26060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RECOMMENDED LEAD SUPPLIER PER CATEGORY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48840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2860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Avenir Next"/>
              </a:rPr>
              <a:t>Ozempic Face             </a:t>
            </a:r>
            <a:r>
              <a:rPr sz="1200" b="1" i="0">
                <a:solidFill>
                  <a:srgbClr val="1A1512"/>
                </a:solidFill>
                <a:latin typeface="Avenir Next"/>
              </a:rPr>
              <a:t>Cellular Cosmetics</a:t>
            </a:r>
            <a:r>
              <a:rPr sz="1050" b="0" i="0">
                <a:solidFill>
                  <a:srgbClr val="6B5D4C"/>
                </a:solidFill>
                <a:latin typeface="Avenir Next"/>
              </a:rPr>
              <a:t>  ·  score 84/100  ·  MOQ 10  ·  total $250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526280"/>
            <a:ext cx="11091672" cy="182880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Avenir Next"/>
              </a:rPr>
              <a:t>IMMEDIATE ACTIONS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4983480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5102352"/>
            <a:ext cx="1060704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1.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Send the RFQ template (in AFTER_supplier_directory_v1.xlsx Sheet 5) to all 5 lead suppliers this week.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2.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Negotiate sample units (3–5 per SKU) for in-house QC before committing to MOQ runs.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3.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Lock packaging + label artwork with the brand designer before the first PO — fastest path to shippable inventory.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Avenir Next"/>
              </a:rPr>
              <a:t>4.  </a:t>
            </a:r>
            <a:r>
              <a:rPr sz="1050" b="0" i="0">
                <a:solidFill>
                  <a:srgbClr val="1A1512"/>
                </a:solidFill>
                <a:latin typeface="Avenir Next"/>
              </a:rPr>
              <a:t>Stand up a single shared Aplomb spec sheet (target ingredients, INCI, GMP cert, lab COA requirements) for every supplier.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Aplomb — Supplier shortlist for MVP market test · For Zachary Poll ·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Avenir Next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