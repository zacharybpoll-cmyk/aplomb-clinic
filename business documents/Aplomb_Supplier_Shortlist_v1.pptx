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/>
              <a:t>5/4/26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cellular-cosmetics.com/" TargetMode="External"/><Relationship Id="rId3" Type="http://schemas.openxmlformats.org/officeDocument/2006/relationships/hyperlink" Target="https://www.cellular-cosmetics.com/products/anti-age-peptide-serum-private-label-skin-care" TargetMode="External"/><Relationship Id="rId4" Type="http://schemas.openxmlformats.org/officeDocument/2006/relationships/hyperlink" Target="https://atalieneskincare.com/" TargetMode="External"/><Relationship Id="rId5" Type="http://schemas.openxmlformats.org/officeDocument/2006/relationships/hyperlink" Target="https://atalieneskincare.com/collections/serums/products/plant-egf-anti-wrinkle-serum-with-hyaluronic-acid" TargetMode="External"/><Relationship Id="rId6" Type="http://schemas.openxmlformats.org/officeDocument/2006/relationships/hyperlink" Target="https://www.pravadaprivatelabel.com/" TargetMode="External"/><Relationship Id="rId7" Type="http://schemas.openxmlformats.org/officeDocument/2006/relationships/hyperlink" Target="https://www.pravadaprivatelabel.com/products/peptide-complex-serum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blis.co.nz/" TargetMode="External"/><Relationship Id="rId3" Type="http://schemas.openxmlformats.org/officeDocument/2006/relationships/hyperlink" Target="https://blis.co.nz/finished-goods/freshbreath-lozenge/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voxnutrition.com/" TargetMode="External"/><Relationship Id="rId3" Type="http://schemas.openxmlformats.org/officeDocument/2006/relationships/hyperlink" Target="https://www.voxnutrition.com/product/hair-skin-nails/" TargetMode="External"/><Relationship Id="rId4" Type="http://schemas.openxmlformats.org/officeDocument/2006/relationships/hyperlink" Target="https://customnutra.com/" TargetMode="External"/><Relationship Id="rId5" Type="http://schemas.openxmlformats.org/officeDocument/2006/relationships/hyperlink" Target="https://customnutra.com/product-category/private-label/goal/hair-nails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ingpharmaceutical.com/" TargetMode="External"/><Relationship Id="rId3" Type="http://schemas.openxmlformats.org/officeDocument/2006/relationships/hyperlink" Target="https://www.ingpharmaceutical.com/products/nausea-relief-softgels-white-label-ginger-magnesium-vitamin-b6-private-label-softgels-manufacturer" TargetMode="External"/><Relationship Id="rId4" Type="http://schemas.openxmlformats.org/officeDocument/2006/relationships/hyperlink" Target="https://www.alibaba.com/showroom/gingerbon-candy.html" TargetMode="External"/><Relationship Id="rId5" Type="http://schemas.openxmlformats.org/officeDocument/2006/relationships/hyperlink" Target="https://www.alibaba.com/showroom/ginger-chew.html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aogubio.com/dietary-supplement/" TargetMode="External"/><Relationship Id="rId3" Type="http://schemas.openxmlformats.org/officeDocument/2006/relationships/hyperlink" Target="https://www.aogubio.com/supply-food-grade-vitamin-b12-methylcobalamin-powder-product/" TargetMode="External"/><Relationship Id="rId4" Type="http://schemas.openxmlformats.org/officeDocument/2006/relationships/hyperlink" Target="https://www.nutribl.com/" TargetMode="External"/><Relationship Id="rId5" Type="http://schemas.openxmlformats.org/officeDocument/2006/relationships/hyperlink" Target="https://www.nutribl.com/p-951-vitamin-b-complex-daily-120-capsules-320ml-flat-postal.aspx" TargetMode="External"/><Relationship Id="rId6" Type="http://schemas.openxmlformats.org/officeDocument/2006/relationships/hyperlink" Target="https://customnutra.com/" TargetMode="External"/><Relationship Id="rId7" Type="http://schemas.openxmlformats.org/officeDocument/2006/relationships/hyperlink" Target="https://customnutra.com/product-category/private-label/vitamins/multivitamins/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00 · Sourcing memo ·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MVP supplier shortlist · 5 side effects · 12 stock-formula vendors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0584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600" b="0" i="0">
                <a:solidFill>
                  <a:srgbClr val="1A1512"/>
                </a:solidFill>
                <a:latin typeface="Cormorant Garamond"/>
              </a:rPr>
              <a:t>Who should </a:t>
            </a:r>
            <a:r>
              <a:rPr sz="5600" b="0" i="1">
                <a:solidFill>
                  <a:srgbClr val="1A1512"/>
                </a:solidFill>
                <a:latin typeface="Cormorant Garamond"/>
              </a:rPr>
              <a:t>actually</a:t>
            </a:r>
            <a:r>
              <a:rPr sz="5600" b="0" i="0">
                <a:solidFill>
                  <a:srgbClr val="1A1512"/>
                </a:solidFill>
                <a:latin typeface="Cormorant Garamond"/>
              </a:rPr>
              <a:t> make</a:t>
            </a:r>
          </a:p>
          <a:p>
            <a:pPr algn="l">
              <a:lnSpc>
                <a:spcPct val="105000"/>
              </a:lnSpc>
            </a:pPr>
            <a:r>
              <a:rPr sz="5600" b="0" i="0">
                <a:solidFill>
                  <a:srgbClr val="1A1512"/>
                </a:solidFill>
                <a:latin typeface="Cormorant Garamond"/>
              </a:rPr>
              <a:t>the first 100 units?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Stock-formula private-label SKUs only — every row links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to a specific published product page so the MOQ ≤100 /</a:t>
            </a:r>
          </a:p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6B5D4C"/>
                </a:solidFill>
                <a:latin typeface="IBM Plex Sans"/>
              </a:rPr>
              <a:t>total &lt;$250 gate is grounded in real catalog data.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5669280"/>
            <a:ext cx="6858000" cy="5029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31520" y="5779008"/>
            <a:ext cx="6675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FIVE PROBLEMS  </a:t>
            </a:r>
            <a:r>
              <a:rPr sz="950" b="0" i="0">
                <a:solidFill>
                  <a:srgbClr val="1A1512"/>
                </a:solidFill>
                <a:latin typeface="IBM Plex Sans"/>
              </a:rPr>
              <a:t>Ozempic face · Halitosis · Hair loss · Nausea · Nutrient depletion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For Zachary Poll · Prepared 2026-05-04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00 · Sourcing gate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68680"/>
            <a:ext cx="109728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How every supplier on the next 10 slides was filtered.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HARD GATE — MOQ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Minimum order quantity ≤ 100 units OR total MOQ spend &lt; $250. This is the cash-outlay ceiling that lets us run a real market test on each side effect without committing &gt;$1,500 of inventory capital.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6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48056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HARD GATE — BRANDING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48056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8056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Supplier must be white-label / private-label capable: Aplomb's name, label, dropper/bottle, and INCI (where required) on the finished good. No co-branded retail products, no contract-manufacturer-of-record disclosure required.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55280" y="2011680"/>
            <a:ext cx="3611880" cy="2560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183880" y="2240280"/>
            <a:ext cx="3154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SOFT GATE — EFFICACY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8183880" y="2560320"/>
            <a:ext cx="31546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83880" y="2697480"/>
            <a:ext cx="3154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 i="0">
                <a:solidFill>
                  <a:srgbClr val="1A1512"/>
                </a:solidFill>
                <a:latin typeface="IBM Plex Sans"/>
              </a:rPr>
              <a:t>Alleviation score ≥ 60 / 100 against the specific side effect. Score is a weighted blend: 40% clinical evidence for the active(s), 25% product specificity, 25% supplier reputation, 10% regulatory cleanliness.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846320"/>
            <a:ext cx="11091672" cy="14173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98348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ALLEVIATION SCORE — RUBRIC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777240" y="5285232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777240" y="5413248"/>
            <a:ext cx="10607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7A3D14"/>
                </a:solidFill>
                <a:latin typeface="IBM Plex Sans"/>
              </a:rPr>
              <a:t>40%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clinical evidence for the active ingredients on this side effect    </a:t>
            </a:r>
            <a:r>
              <a:rPr sz="1100" b="1" i="0">
                <a:solidFill>
                  <a:srgbClr val="7A3D14"/>
                </a:solidFill>
                <a:latin typeface="IBM Plex Sans"/>
              </a:rPr>
              <a:t>·  25%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product specificity (targeted blend &gt; generic)    </a:t>
            </a:r>
          </a:p>
          <a:p>
            <a:pPr algn="l">
              <a:lnSpc>
                <a:spcPct val="140000"/>
              </a:lnSpc>
            </a:pPr>
            <a:r>
              <a:rPr sz="1100" b="1" i="0">
                <a:solidFill>
                  <a:srgbClr val="7A3D14"/>
                </a:solidFill>
                <a:latin typeface="IBM Plex Sans"/>
              </a:rPr>
              <a:t>25%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supplier reputation (years operating, certifications, reviews)    </a:t>
            </a:r>
            <a:r>
              <a:rPr sz="1100" b="1" i="0">
                <a:solidFill>
                  <a:srgbClr val="7A3D14"/>
                </a:solidFill>
                <a:latin typeface="IBM Plex Sans"/>
              </a:rPr>
              <a:t>·  10% 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regulatory cleanliness (no FDA warning letters, ingredients GRAS / OTC-legal)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01 · Side effect 1 of 5 · Topical serum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Ozempic Face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Rapid weight loss on GLP-1s (15–20% body mass in 6–12 months) depletes facial fat pads faster than skin can retract, producing the gaunt, hollow, prematurely-aged look popularized as 'Ozempic face'.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Subcutaneous fat loss in malar, temporal and buccal pads (volume depletion).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Concurrent collagen / elastin loss from caloric restriction (dermal thinning).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Reduced glycation activity but accelerated visible aging (barrier + GAG drop).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Topical peptide serums (Matrixyl 3000, GHK-Cu, SNAP-8) — stimulate collagen + reduce fine lines.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Hyaluronic acid serums + ceramide moisturizers — restore barrier and apparent volume.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Retinoid analogs (HPR, retinaldehyde) — accelerate dermal remodeling without Rx.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SPF 30+ daily — UV is the largest modifiable amplifier of GLP-1-driven skin aging.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01 · Side effect 1 of 5 · Topical serum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Ozempic Face — 3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Cellular Cosmetics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cellular-cosmetics.com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Peptide serum w/ Matrixyl 3000 + Synthe'6, shelf-ready, dropper-bottle filled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Anti-Age Peptide Serum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84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Australia. ONLY vendor with published INCI. 10-unit MOQ ideal for sampling. 4–8 day lead. Budget freight to US.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Ataliene Skincare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atalieneskincare.com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4-peptide anti-aging serum + HA + botanicals; USA-filled, esthetician-grade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Plant-EGF Peptide + HA Serum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$27.50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$330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76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USA mfr, fastest reorders (2 wk). $50 label set-up per SKU. INCI not published — request before order.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Pravada Private Label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6"/>
                        </a:rPr>
                        <a:t>pravadaprivatelabel.com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Peptide+ Firming Serum (5 unnamed peptides); 70% organic; R&amp;D customization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7"/>
                        </a:rPr>
                        <a:t>Peptide Complex Serum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$39.00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$1,950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71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Canada. 20-yr salon/spa heritage. Scales 50 → 200K units. INCI opaque but peptides swappable on request.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Cellular Cosmetics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84/100 · MOQ 10 · $25.00/unit · total $250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02 · Side effect 2 of 5 · Zinc + chlorhexidine lozenge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Halitosis ("Ozempic breath")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~30% of Ozempic users self-report bad breath (ADA 2025). Three converging mechanisms: hyposalivation (dry mouth), ketosis-driven acetone breath, and gastric stasis fermentation. Persistent while on the drug.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Hyposalivation: GLP-1 receptor activity in salivary glands reduces flow → less buffering of oral bacteria.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Ketosis: caloric deficit → acetone + isoprene exhalation (fruity / metallic odor).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Gastric stasis: delayed emptying → fermentation gases (eructation in ~9% per Novo's STEP-1).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Zinc gluconate / acetate lozenges — neutralize volatile sulfur compounds (VSCs) at the source.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Xylitol mints / gum — stimulate saliva, inhibit S. mutans biofilm.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Chlorhexidine 0.12% rinses (short courses) — reduce anaerobic load (Rx in some markets, OTC elsewhere).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S. salivarius K12 oral probiotics — repopulate competitive flora.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02 · Side effect 2 of 5 · Zinc + chlorhexidine lozenge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Halitosis ("Ozempic breath") — 1 shortlisted supplier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16002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BLIS Technologies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blis.co.nz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Private-label S. salivarius K12 lozenge — root-cause oral probiotic with halitosis clinical evidence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K12 FreshBreath Lozenge (Private Label)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82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NZ; only finished-goods private-label K12 program. 1.25B CFU peppermint lozenge, 40-ct blister pack. RFQ MOQ; positioned as the root-cause SKU in our 3-supplier slate.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BLIS Technologies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82/100 · MOQ 100 · $2.00/unit · total $200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03 · Side effect 3 of 5 · Oral biotin + collagen 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Hair Loss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Telogen effluvium — diffuse shedding 2–4 months after rapid weight loss begins. Affects ~6–13% of GLP-1 users (Shah 2024). Compounded by reduced protein/micronutrient intake under appetite suppression.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Stress shock from rapid caloric deficit shifts hair follicles from anagen to telogen phase prematurely.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Sub-clinical iron, zinc, vitamin D, B12 deficiencies common under reduced food intake.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Marine collagen / amino-acid building blocks (cysteine, methionine) drop with low-protein eating patterns.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Biotin (5–10 mg/day) — supports keratin synthesis; strongest evidence in deficient subjects.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Marine collagen peptides (10g/day) — provide hair-building amino acids.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Iron + vitamin C (in deficient subjects only — test first).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Saw palmetto + DHT-related blends — emerging evidence for androgenetic component.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03 · Side effect 3 of 5 · Oral biotin + collagen capsule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Hair Loss — 2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10668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10668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Vox Nutrition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voxnutrition.com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Custom biotin + marine collagen capsule; NSF + FDA + cGMP + Organic certified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Hair, Skin &amp; Nails Capsule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$4.50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$225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Utah-based US private-label specialist. 7–10 day turnaround. Only US supplier with publicly stated &lt;100 MOQ for biotin+collagen blend. Best-in-class certifications.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10668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Custom Nutra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customnutra.com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Biotin + collagen capsule (250+ stock blends); custom B-vitamin add-on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Hair, Skin &amp; Nail PL Catalog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48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$2.50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$120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64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Florida cGMP, FDA-registered. Lowest published stock-formula MOQ (48). Custom (vs stock) blends jump to 1,000+ MOQ. Stock biotin/collagen blend works for an MVP test.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Vox Nutrition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72/100 · MOQ 50 · $4.50/unit · total $225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04 · Side effect 4 of 5 · Ginger + B6 chew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Nausea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The single most common GLP-1 side effect — ~24–44% of users experience nausea, especially during dose escalation. Driven by delayed gastric emptying. Most-cited reason for discontinuation in the first 8 weeks.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 agonists slow gastric emptying by 30–70% — food sits longer, distends the stomach, triggers vagal nausea signals.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Central CNS effects on the area postrema also contribute (same brainstem region as motion sickness).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Worst during titration (week 1–2 of each dose step); tolerance often develops over 4–8 weeks.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Ginger root (1–1.5 g/day) — RCT-validated for chemo, pregnancy, and post-op nausea.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Vitamin B6 (pyridoxine, 25–75 mg) — first-line for morning sickness; synergistic with ginger.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Acupressure wristbands (P6 / Nei-Kuan) — FDA-cleared Class I device for nausea.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Peppermint oil / lozenges — modest relief via anti-spasmodic effect on gastric muscle.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09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04 · Side effect 4 of 5 · Ginger + B6 chew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Nausea — 3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ING Pharmaceutical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ingpharmaceutical.com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Nausea Relief Softgel — Ginger Root 67mg + B6 1.4mg + Mg carbonate (ready formula)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Nausea Relief Softgel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$250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82</a:t>
                      </a:r>
                    </a:p>
                  </a:txBody>
                  <a:tcPr>
                    <a:solidFill>
                      <a:srgbClr val="E6C99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RFQ — MOQ negotiable; ready-to-fill formula exact-match for GLP-1 nausea positioning. 300+ brands served. Phone (786) 518-2903. FDA-grade softgel.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Gingerbon (Alibaba sourced)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alibaba.com/showroom/ginge…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Vietnamese ginger candy chew, private-label wrap; B6 add-on possible on custom run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Gingerbon Candy Wholesale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$2.40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$240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Vietnam confectioner via Alibaba. Traditional ginger chew; well-tolerated; B6 not in stock blend — request custom for nausea positioning. Confirm specific seller before PO.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Generic Asian ginger chew (Alibaba)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alibaba.com/showroom/ginge…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Private-label ginger chew, custom B6 + ginger blend; 66 suppliers in category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Ginger Chew OEM Listings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68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147 ginger chew SKUs across 66 suppliers (most China). Request RFQ from 3-5 sellers; pick best MOQ + B6 spec. ISO9001 + HACCP common.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ING Pharmaceutical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82/100 · MOQ 100 · $2.50/unit · total $250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05 · Side effect 5 of 5 · GLP-1 targeted multivitamin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0" i="0">
                <a:solidFill>
                  <a:srgbClr val="1A1512"/>
                </a:solidFill>
                <a:latin typeface="Cormorant Garamond"/>
              </a:rPr>
              <a:t>Nutrient Depletion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28800"/>
            <a:ext cx="5349240" cy="44348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993392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THE PROBLEM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304288"/>
            <a:ext cx="493776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423160"/>
            <a:ext cx="4937760" cy="3703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200" b="0" i="0">
                <a:solidFill>
                  <a:srgbClr val="1A1512"/>
                </a:solidFill>
                <a:latin typeface="IBM Plex Sans"/>
              </a:rPr>
              <a:t>Reduced caloric intake (often 1,000–1,200 kcal/day) creates predictable micronutrient gaps. ~13–22% of GLP-1 users develop documented deficiencies. Compounds the muscle-loss and hair-thinning problems.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35040" y="1828800"/>
            <a:ext cx="5605272" cy="2011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263640" y="199339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ROOT CAUSE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3640" y="230428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3640" y="2395728"/>
            <a:ext cx="521208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Reduced food volume → reduced intake of B12, magnesium, potassium, vitamin D, K2, iodine.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Loss of food preferences (anhedonia) further narrows the nutrient base actually consumed.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 receptor activity in pancreas + gut may reduce absorption efficiency for some micronutrients.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3931920"/>
            <a:ext cx="5605272" cy="233172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63640" y="409651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BEST OTC REMEDIES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263640" y="4407408"/>
            <a:ext cx="521208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263640" y="4498848"/>
            <a:ext cx="5212080" cy="1783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GLP-1-targeted multivitamin: B-complex (esp. B12 methylcobalamin), Mg glycinate, K2 (MK-7), D3.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Electrolyte sticks (Na + K + Mg) — counter the hypovolemia / lightheadedness common in week 1–4.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Whey or plant protein shakes (20–30g) — supplement protein intake (often &lt;60g/day on GLP-1).</a:t>
            </a:r>
          </a:p>
          <a:p>
            <a:pPr algn="l">
              <a:lnSpc>
                <a:spcPct val="132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•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Comprehensive labs (CBC, CMP, B12, vit D, ferritin) every 3–6 months while on therapy.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05 · Side effect 5 of 5 · GLP-1 targeted multivitamin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Nutrient Depletion — 3 shortlisted suppliers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000" b="0" i="0">
                <a:solidFill>
                  <a:srgbClr val="6B5D4C"/>
                </a:solidFill>
                <a:latin typeface="IBM Plex Sans"/>
              </a:rPr>
              <a:t>Stock-formula private-label SKUs only. MOQ + total cost verified against each supplier's published page.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965960"/>
          <a:ext cx="11091667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736"/>
                <a:gridCol w="1109167"/>
                <a:gridCol w="1663750"/>
                <a:gridCol w="1432674"/>
                <a:gridCol w="508368"/>
                <a:gridCol w="693229"/>
                <a:gridCol w="878090"/>
                <a:gridCol w="600798"/>
                <a:gridCol w="3188855"/>
              </a:tblGrid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Company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Website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Product page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MOQ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$/unit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Total MOQ$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Score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EFE8DC"/>
                          </a:solidFill>
                          <a:latin typeface="IBM Plex Sans"/>
                        </a:rPr>
                        <a:t>Notes</a:t>
                      </a:r>
                    </a:p>
                  </a:txBody>
                  <a:tcPr>
                    <a:solidFill>
                      <a:srgbClr val="1A1512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Aogubio (Xi'an)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2"/>
                        </a:rPr>
                        <a:t>aogubio.com/dietary-supple…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OEM multivitamin capsule (B12, Mg-glycinate, K2 MK-7, D3, B-complex blend)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3"/>
                        </a:rPr>
                        <a:t>Vitamin B12 Methylcobalamin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100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$1.75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$175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71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Xi'an-based China OEM. Hits both gates (MOQ 100 AND total &lt;$250). Custom GLP-1 blend spec'd by buyer; 2-4 wk lead. Lab COA per batch; ISO + GMP cert.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Nutribl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4"/>
                        </a:rPr>
                        <a:t>nutribl.com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Stock multivitamin capsule (120+ blends with B-complex, Mg, D3); private label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5"/>
                        </a:rPr>
                        <a:t>Vitamin B-Complex Daily 120ct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10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$3.50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$35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64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Lowest MOQ in market (10 units, stock formulas). UK-based; pricing behind login. Custom blends jump to £4-10K formulation cost. Stock blend works for MVP test.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</a:tr>
              <a:tr h="800100"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50" b="1">
                          <a:solidFill>
                            <a:srgbClr val="1A1512"/>
                          </a:solidFill>
                          <a:latin typeface="IBM Plex Sans"/>
                        </a:rPr>
                        <a:t>Custom Nutra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6"/>
                        </a:rPr>
                        <a:t>customnutra.com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Multivitamin capsule (250+ stock blends incl. B-complex + Mg + electrolytes)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800" b="0" u="sng">
                          <a:solidFill>
                            <a:srgbClr val="7A3D14"/>
                          </a:solidFill>
                          <a:latin typeface="IBM Plex Sans"/>
                          <a:hlinkClick r:id="rId7"/>
                        </a:rPr>
                        <a:t>Multivitamins PL Catalog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48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$2.25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r">
                        <a:lnSpc>
                          <a:spcPct val="112000"/>
                        </a:lnSpc>
                      </a:pPr>
                      <a:r>
                        <a:rPr sz="850" b="0">
                          <a:solidFill>
                            <a:srgbClr val="1A1512"/>
                          </a:solidFill>
                          <a:latin typeface="IBM Plex Sans"/>
                        </a:rPr>
                        <a:t>$108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ctr">
                        <a:lnSpc>
                          <a:spcPct val="112000"/>
                        </a:lnSpc>
                      </a:pPr>
                      <a:r>
                        <a:rPr sz="1000" b="1">
                          <a:solidFill>
                            <a:srgbClr val="1A1512"/>
                          </a:solidFill>
                          <a:latin typeface="IBM Plex Sans"/>
                        </a:rPr>
                        <a:t>62</a:t>
                      </a:r>
                    </a:p>
                  </a:txBody>
                  <a:tcPr>
                    <a:solidFill>
                      <a:srgbClr val="F7F1E6"/>
                    </a:solidFill>
                  </a:tcPr>
                </a:tc>
                <a:tc>
                  <a:txBody>
                    <a:bodyPr lIns="45000" rIns="45000" tIns="40000" bIns="40000" wrap="square"/>
                    <a:lstStyle/>
                    <a:p>
                      <a:pPr algn="l">
                        <a:lnSpc>
                          <a:spcPct val="112000"/>
                        </a:lnSpc>
                      </a:pPr>
                      <a:r>
                        <a:rPr sz="750" b="0">
                          <a:solidFill>
                            <a:srgbClr val="1A1512"/>
                          </a:solidFill>
                          <a:latin typeface="IBM Plex Sans"/>
                        </a:rPr>
                        <a:t>Florida cGMP, FDA-registered. Stock blends only at 48 MOQ; custom GLP-1-targeted blend jumps to 1,000+ MOQ. Same supplier as hair-loss section if bundle SKUs.</a:t>
                      </a:r>
                    </a:p>
                  </a:txBody>
                  <a:tcPr>
                    <a:solidFill>
                      <a:srgbClr val="EFE8DC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548640" y="5440680"/>
            <a:ext cx="11091672" cy="86868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77240" y="5577840"/>
            <a:ext cx="106070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Aogubio (Xi'an)</a:t>
            </a:r>
            <a:r>
              <a:rPr sz="1100" b="0" i="0">
                <a:solidFill>
                  <a:srgbClr val="1A1512"/>
                </a:solidFill>
                <a:latin typeface="IBM Plex Sans"/>
              </a:rPr>
              <a:t> · score 71/100 · MOQ 100 · $1.75/unit · total $175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FE8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548640" y="5029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00" b="0" i="0">
                <a:solidFill>
                  <a:srgbClr val="7A3D14"/>
                </a:solidFill>
                <a:latin typeface="IBM Plex Sans"/>
              </a:rPr>
              <a:t>§ 06 · 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164592"/>
            <a:ext cx="1645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1100" b="0" i="1">
                <a:solidFill>
                  <a:srgbClr val="1A1512"/>
                </a:solidFill>
                <a:latin typeface="Cormorant Garamond"/>
              </a:rPr>
              <a:t>Aplomb</a:t>
            </a:r>
            <a:r>
              <a:rPr sz="1100" b="1" i="1">
                <a:solidFill>
                  <a:srgbClr val="7A3D14"/>
                </a:solidFill>
                <a:latin typeface="Cormorant Garamond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7772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0" i="0">
                <a:solidFill>
                  <a:srgbClr val="1A1512"/>
                </a:solidFill>
                <a:latin typeface="Cormorant Garamond"/>
              </a:rPr>
              <a:t>Cross-cutting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11091672" cy="260604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182880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RECOMMENDED LEAD SUPPLIER PER CATEGORY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48840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77240" y="2286000"/>
            <a:ext cx="1060704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Ozempic Face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Cellular Cosmetics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84/100  ·  MOQ 10  ·  total $250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Halitosis ("Ozempic breath")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BLIS Technologies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82/100  ·  MOQ 100  ·  total $200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Hair Loss   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Vox Nutrition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72/100  ·  MOQ 50  ·  total $225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Nausea            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ING Pharmaceutical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82/100  ·  MOQ 100  ·  total $250</a:t>
            </a:r>
          </a:p>
          <a:p>
            <a:pPr algn="l">
              <a:lnSpc>
                <a:spcPct val="155000"/>
              </a:lnSpc>
            </a:pPr>
            <a:r>
              <a:rPr sz="1100" b="0" i="0">
                <a:solidFill>
                  <a:srgbClr val="6B5D4C"/>
                </a:solidFill>
                <a:latin typeface="IBM Plex Sans"/>
              </a:rPr>
              <a:t>Nutrient Depletion       </a:t>
            </a:r>
            <a:r>
              <a:rPr sz="1200" b="1" i="0">
                <a:solidFill>
                  <a:srgbClr val="1A1512"/>
                </a:solidFill>
                <a:latin typeface="IBM Plex Sans"/>
              </a:rPr>
              <a:t>Aogubio (Xi'an)</a:t>
            </a:r>
            <a:r>
              <a:rPr sz="1050" b="0" i="0">
                <a:solidFill>
                  <a:srgbClr val="6B5D4C"/>
                </a:solidFill>
                <a:latin typeface="IBM Plex Sans"/>
              </a:rPr>
              <a:t>  ·  score 71/100  ·  MOQ 100  ·  total $175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526280"/>
            <a:ext cx="11091672" cy="1828800"/>
          </a:xfrm>
          <a:prstGeom prst="rect">
            <a:avLst/>
          </a:prstGeom>
          <a:solidFill>
            <a:srgbClr val="F7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6070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50" b="1" i="0">
                <a:solidFill>
                  <a:srgbClr val="7A3D14"/>
                </a:solidFill>
                <a:latin typeface="IBM Plex Sans"/>
              </a:rPr>
              <a:t>IMMEDIATE ACTIONS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77240" y="4983480"/>
            <a:ext cx="10607040" cy="0"/>
          </a:xfrm>
          <a:prstGeom prst="line">
            <a:avLst/>
          </a:prstGeom>
          <a:ln w="6350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7240" y="5102352"/>
            <a:ext cx="10607040" cy="12070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1.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Send the RFQ template (in AFTER_supplier_directory_v1.xlsx Sheet 5) to all 5 lead suppliers this week.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2.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Negotiate sample units (3–5 per SKU) for in-house QC before committing to MOQ runs.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3.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Lock packaging + label artwork with the brand designer before the first PO — fastest path to shippable inventory.</a:t>
            </a:r>
          </a:p>
          <a:p>
            <a:pPr algn="l">
              <a:lnSpc>
                <a:spcPct val="140000"/>
              </a:lnSpc>
            </a:pPr>
            <a:r>
              <a:rPr sz="1050" b="1" i="0">
                <a:solidFill>
                  <a:srgbClr val="7A3D14"/>
                </a:solidFill>
                <a:latin typeface="IBM Plex Sans"/>
              </a:rPr>
              <a:t>4.  </a:t>
            </a:r>
            <a:r>
              <a:rPr sz="1050" b="0" i="0">
                <a:solidFill>
                  <a:srgbClr val="1A1512"/>
                </a:solidFill>
                <a:latin typeface="IBM Plex Sans"/>
              </a:rPr>
              <a:t>Stand up a single shared Aplomb spec sheet (target ingredients, INCI, GMP cert, lab COA requirements) for every supplier.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48640" y="6446520"/>
            <a:ext cx="11091672" cy="0"/>
          </a:xfrm>
          <a:prstGeom prst="line">
            <a:avLst/>
          </a:prstGeom>
          <a:ln w="9525">
            <a:solidFill>
              <a:srgbClr val="D9CFB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48640" y="651967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Aplomb — Supplier shortlist for MVP market test · For Zachary Poll · Confidential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32720" y="6519672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8000"/>
              </a:lnSpc>
            </a:pPr>
            <a:r>
              <a:rPr sz="800" b="0" i="0">
                <a:solidFill>
                  <a:srgbClr val="6B5D4C"/>
                </a:solidFill>
                <a:latin typeface="IBM Plex Sans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