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ellular-cosmetics.com/" TargetMode="External"/><Relationship Id="rId3" Type="http://schemas.openxmlformats.org/officeDocument/2006/relationships/hyperlink" Target="https://www.cellular-cosmetics.com/products/anti-age-peptide-serum-private-label-skin-care" TargetMode="External"/><Relationship Id="rId4" Type="http://schemas.openxmlformats.org/officeDocument/2006/relationships/hyperlink" Target="https://atalieneskincare.com/" TargetMode="External"/><Relationship Id="rId5" Type="http://schemas.openxmlformats.org/officeDocument/2006/relationships/hyperlink" Target="https://atalieneskincare.com/collections/serums/products/plant-egf-anti-wrinkle-serum-with-hyaluronic-acid" TargetMode="External"/><Relationship Id="rId6" Type="http://schemas.openxmlformats.org/officeDocument/2006/relationships/hyperlink" Target="https://www.pravadaprivatelabel.com/" TargetMode="External"/><Relationship Id="rId7" Type="http://schemas.openxmlformats.org/officeDocument/2006/relationships/hyperlink" Target="https://www.pravadaprivatelabel.com/products/peptide-complex-seru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lis.co.nz/" TargetMode="External"/><Relationship Id="rId3" Type="http://schemas.openxmlformats.org/officeDocument/2006/relationships/hyperlink" Target="https://blis.co.nz/finished-goods/freshbreath-lozenge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oxnutrition.com/" TargetMode="External"/><Relationship Id="rId3" Type="http://schemas.openxmlformats.org/officeDocument/2006/relationships/hyperlink" Target="https://www.voxnutrition.com/product/hair-skin-nails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gpharmaceutical.com/" TargetMode="External"/><Relationship Id="rId3" Type="http://schemas.openxmlformats.org/officeDocument/2006/relationships/hyperlink" Target="https://www.ingpharmaceutical.com/products/nausea-relief-softgels-white-label-ginger-magnesium-vitamin-b6-private-label-softgels-manufacturer" TargetMode="External"/><Relationship Id="rId4" Type="http://schemas.openxmlformats.org/officeDocument/2006/relationships/hyperlink" Target="https://www.alibaba.com/product-detail/VitaHall-OEM-ODM-Private-Label-Bulk_1601750948418.html" TargetMode="External"/><Relationship Id="rId5" Type="http://schemas.openxmlformats.org/officeDocument/2006/relationships/hyperlink" Target="https://www.alibaba.com/product-detail/SUNI-OEM-ODM-Private-Label-Bulk_1601696643918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ogubio.com/dietary-supplement/" TargetMode="External"/><Relationship Id="rId3" Type="http://schemas.openxmlformats.org/officeDocument/2006/relationships/hyperlink" Target="https://www.aogubio.com/supply-food-grade-vitamin-b12-methylcobalamin-powder-product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acklane.com/" TargetMode="External"/><Relationship Id="rId3" Type="http://schemas.openxmlformats.org/officeDocument/2006/relationships/hyperlink" Target="https://packlane.com/products/mailer-box" TargetMode="External"/><Relationship Id="rId4" Type="http://schemas.openxmlformats.org/officeDocument/2006/relationships/hyperlink" Target="https://www.ecoenclose.com/" TargetMode="External"/><Relationship Id="rId5" Type="http://schemas.openxmlformats.org/officeDocument/2006/relationships/hyperlink" Target="https://www.ecoenclose.com/shop/custom-shipping-boxes/" TargetMode="External"/><Relationship Id="rId6" Type="http://schemas.openxmlformats.org/officeDocument/2006/relationships/hyperlink" Target="https://refinepackaging.com/" TargetMode="External"/><Relationship Id="rId7" Type="http://schemas.openxmlformats.org/officeDocument/2006/relationships/hyperlink" Target="https://refinepackaging.com/mailer-boxes/" TargetMode="External"/><Relationship Id="rId8" Type="http://schemas.openxmlformats.org/officeDocument/2006/relationships/hyperlink" Target="https://noissue.co/" TargetMode="External"/><Relationship Id="rId9" Type="http://schemas.openxmlformats.org/officeDocument/2006/relationships/hyperlink" Target="https://noissue.co/custom-packaging/custom-boxes/" TargetMode="External"/><Relationship Id="rId10" Type="http://schemas.openxmlformats.org/officeDocument/2006/relationships/hyperlink" Target="https://pakfactory.com/" TargetMode="External"/><Relationship Id="rId11" Type="http://schemas.openxmlformats.org/officeDocument/2006/relationships/hyperlink" Target="https://pakfactory.com/folding-carton-paperboard-boxes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00 · Sourcing memo ·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5D4C"/>
                </a:solidFill>
                <a:latin typeface="IBM Plex Sans"/>
              </a:rPr>
              <a:t>MVP supplier shortlist · 5 side effects · 12 stock-formula vendors · + outer-packaging mailer system (6 vendors)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0" i="0">
                <a:solidFill>
                  <a:srgbClr val="1A1512"/>
                </a:solidFill>
                <a:latin typeface="Cormorant Garamond"/>
              </a:rPr>
              <a:t>Who should </a:t>
            </a:r>
            <a:r>
              <a:rPr sz="5600" b="0" i="1">
                <a:solidFill>
                  <a:srgbClr val="1A1512"/>
                </a:solidFill>
                <a:latin typeface="Cormorant Garamond"/>
              </a:rPr>
              <a:t>actually</a:t>
            </a:r>
            <a:r>
              <a:rPr sz="5600" b="0" i="0">
                <a:solidFill>
                  <a:srgbClr val="1A1512"/>
                </a:solidFill>
                <a:latin typeface="Cormorant Garamond"/>
              </a:rPr>
              <a:t> make</a:t>
            </a:r>
          </a:p>
          <a:p>
            <a:pPr algn="l">
              <a:lnSpc>
                <a:spcPct val="105000"/>
              </a:lnSpc>
            </a:pPr>
            <a:r>
              <a:rPr sz="5600" b="0" i="0">
                <a:solidFill>
                  <a:srgbClr val="1A1512"/>
                </a:solidFill>
                <a:latin typeface="Cormorant Garamond"/>
              </a:rPr>
              <a:t>the first 100 units?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5D4C"/>
                </a:solidFill>
                <a:latin typeface="IBM Plex Sans"/>
              </a:rPr>
              <a:t>Stock-formula private-label SKUs only — every row links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5D4C"/>
                </a:solidFill>
                <a:latin typeface="IBM Plex Sans"/>
              </a:rPr>
              <a:t>to a specific published product page so the MOQ ≤100 /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5D4C"/>
                </a:solidFill>
                <a:latin typeface="IBM Plex Sans"/>
              </a:rPr>
              <a:t>total &lt;$250 gate is grounded in real catalog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6858000" cy="5029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77900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FIVE PROBLEMS  </a:t>
            </a:r>
            <a:r>
              <a:rPr sz="950" b="0" i="0">
                <a:solidFill>
                  <a:srgbClr val="1A1512"/>
                </a:solidFill>
                <a:latin typeface="IBM Plex Sans"/>
              </a:rPr>
              <a:t>Ozempic face · Halitosis · Hair loss · Nausea · Nutrient depletion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For Zachary Poll · Prepared 2026-05-05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00 · Sourcing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How every supplier on the next 10 slides was filtered.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611880" cy="25603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HARD GATE — MOQ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560320"/>
            <a:ext cx="31546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697480"/>
            <a:ext cx="3154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IBM Plex Sans"/>
              </a:rPr>
              <a:t>Minimum order quantity ≤ 100 units OR total MOQ spend &lt; $250. This is the cash-outlay ceiling that lets us run a real market test on each side effect without committing &gt;$1,500 of inventory capital.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011680"/>
            <a:ext cx="3611880" cy="25603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22402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HARD GATE — BRANDING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80560" y="2560320"/>
            <a:ext cx="31546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80560" y="2697480"/>
            <a:ext cx="3154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IBM Plex Sans"/>
              </a:rPr>
              <a:t>Supplier must be white-label / private-label capable: Aplomb's name, label, dropper/bottle, and INCI (where required) on the finished good. No co-branded retail products, no contract-manufacturer-of-record disclosure required.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2011680"/>
            <a:ext cx="3611880" cy="25603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22402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SOFT GATE — EFFICACY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3880" y="2560320"/>
            <a:ext cx="31546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83880" y="2697480"/>
            <a:ext cx="3154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IBM Plex Sans"/>
              </a:rPr>
              <a:t>Alleviation score ≥ 60 / 100 against the specific side effect. Score is a weighted blend: 40% clinical evidence for the active(s), 25% product specificity, 25% supplier reputation, 10% regulatory cleanliness.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11091672" cy="14173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9834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ALLEVIATION SCORE — RUBRIC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5285232"/>
            <a:ext cx="106070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5413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7A3D14"/>
                </a:solidFill>
                <a:latin typeface="IBM Plex Sans"/>
              </a:rPr>
              <a:t>40% 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clinical evidence for the active ingredients on this side effect    </a:t>
            </a:r>
            <a:r>
              <a:rPr sz="1100" b="1" i="0">
                <a:solidFill>
                  <a:srgbClr val="7A3D14"/>
                </a:solidFill>
                <a:latin typeface="IBM Plex Sans"/>
              </a:rPr>
              <a:t>·  25% 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product specificity (targeted blend &gt; generic)    </a:t>
            </a:r>
          </a:p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7A3D14"/>
                </a:solidFill>
                <a:latin typeface="IBM Plex Sans"/>
              </a:rPr>
              <a:t>25% 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supplier reputation (years operating, certifications, reviews)    </a:t>
            </a:r>
            <a:r>
              <a:rPr sz="1100" b="1" i="0">
                <a:solidFill>
                  <a:srgbClr val="7A3D14"/>
                </a:solidFill>
                <a:latin typeface="IBM Plex Sans"/>
              </a:rPr>
              <a:t>·  10% 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regulatory cleanliness (no FDA warning letters, ingredients GRAS / OTC-legal)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01 · Side effect 1 of 5 · Topical serum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A1512"/>
                </a:solidFill>
                <a:latin typeface="Cormorant Garamond"/>
              </a:rPr>
              <a:t>Ozempic 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443484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THE 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304288"/>
            <a:ext cx="493776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423160"/>
            <a:ext cx="4937760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A1512"/>
                </a:solidFill>
                <a:latin typeface="IBM Plex Sans"/>
              </a:rPr>
              <a:t>Rapid weight loss on GLP-1s (15–20% body mass in 6–12 months) depletes facial fat pads faster than skin can retract, producing the gaunt, hollow, prematurely-aged look popularized as 'Ozempic face'.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5605272" cy="2011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9933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ROOT CAUSE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30428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2395728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Subcutaneous fat loss in malar, temporal and buccal pads (volume depletion).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Concurrent collagen / elastin loss from caloric restriction (dermal thinning).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Reduced glycation activity but accelerated visible aging (barrier + GAG drop).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931920"/>
            <a:ext cx="5605272" cy="23317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0965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BEST OTC REMEDIES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440740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4498848"/>
            <a:ext cx="52120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Topical peptide serums (Matrixyl 3000, GHK-Cu, SNAP-8) — stimulate collagen + reduce fine lines.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Hyaluronic acid serums + ceramide moisturizers — restore barrier and apparent volume.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Retinoid analogs (HPR, retinaldehyde) — accelerate dermal remodeling without Rx.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SPF 30+ daily — UV is the largest modifiable amplifier of GLP-1-driven skin aging.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01 · Side effect 1 of 5 · Topical serum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Ozempic Face — 3 shortlisted suppliers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5D4C"/>
                </a:solidFill>
                <a:latin typeface="IBM Plex Sans"/>
              </a:rPr>
              <a:t>Stock-formula private-label SKUs only. MOQ + total cost verified against each supplier's published page.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9166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736"/>
                <a:gridCol w="1109167"/>
                <a:gridCol w="1663750"/>
                <a:gridCol w="1432674"/>
                <a:gridCol w="508368"/>
                <a:gridCol w="693229"/>
                <a:gridCol w="878090"/>
                <a:gridCol w="600798"/>
                <a:gridCol w="3188855"/>
              </a:tblGrid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Company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Website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 page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MOQ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$/unit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Total MOQ$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Score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Notes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Cellular Cosmetics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2"/>
                        </a:rPr>
                        <a:t>cellular-cosmetics.com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Peptide serum w/ Matrixyl 3000 + Synthe'6, shelf-ready, dropper-bottle filled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3"/>
                        </a:rPr>
                        <a:t>Anti-Age Peptide Serum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$25.00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$250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84</a:t>
                      </a:r>
                    </a:p>
                  </a:txBody>
                  <a:tcPr>
                    <a:solidFill>
                      <a:srgbClr val="E6C99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Australia. ONLY vendor with published INCI. 10-unit MOQ ideal for sampling. 4–8 day lead. Budget freight to US.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Ataliene Skincare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4"/>
                        </a:rPr>
                        <a:t>atalieneskincare.com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4-peptide anti-aging serum + HA + botanicals; USA-filled, esthetician-grade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5"/>
                        </a:rPr>
                        <a:t>Plant-EGF Peptide + HA Serum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12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$27.50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$330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76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USA mfr, fastest reorders (2 wk). $50 label set-up per SKU. INCI not published — request before order.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Pravada Private Label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6"/>
                        </a:rPr>
                        <a:t>pravadaprivatelabel.com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Peptide+ Firming Serum (5 unnamed peptides); 70% organic; R&amp;D customization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7"/>
                        </a:rPr>
                        <a:t>Peptide Complex Serum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50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$39.00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$1,950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71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Canada. 20-yr salon/spa heritage. Scales 50 → 200K units. INCI opaque but peptides swappable on request.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RECOMMENDED LEAD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Cellular Cosmetics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 · score 84/100 · MOQ 10 · $25.00/unit · total $250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02 · Side effect 2 of 5 · Zinc + chlorhexidine lozenge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A1512"/>
                </a:solidFill>
                <a:latin typeface="Cormorant Garamond"/>
              </a:rPr>
              <a:t>Halitosis ("Ozempic breath")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443484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THE 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304288"/>
            <a:ext cx="493776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423160"/>
            <a:ext cx="4937760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A1512"/>
                </a:solidFill>
                <a:latin typeface="IBM Plex Sans"/>
              </a:rPr>
              <a:t>~30% of Ozempic users self-report bad breath (ADA 2025). Three converging mechanisms: hyposalivation (dry mouth), ketosis-driven acetone breath, and gastric stasis fermentation. Persistent while on the drug.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5605272" cy="2011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9933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ROOT CAUSE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30428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2395728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Hyposalivation: GLP-1 receptor activity in salivary glands reduces flow → less buffering of oral bacteria.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Ketosis: caloric deficit → acetone + isoprene exhalation (fruity / metallic odor).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Gastric stasis: delayed emptying → fermentation gases (eructation in ~9% per Novo's STEP-1).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931920"/>
            <a:ext cx="5605272" cy="23317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0965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BEST OTC REMEDIES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440740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4498848"/>
            <a:ext cx="52120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Zinc gluconate / acetate lozenges — neutralize volatile sulfur compounds (VSCs) at the source.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Xylitol mints / gum — stimulate saliva, inhibit S. mutans biofilm.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Chlorhexidine 0.12% rinses (short courses) — reduce anaerobic load (Rx in some markets, OTC elsewhere).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S. salivarius K12 oral probiotics — repopulate competitive flora.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02 · Side effect 2 of 5 · Zinc + chlorhexidine lozenge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Halitosis ("Ozempic breath") — 1 shortlisted supplier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5D4C"/>
                </a:solidFill>
                <a:latin typeface="IBM Plex Sans"/>
              </a:rPr>
              <a:t>Stock-formula private-label SKUs only. MOQ + total cost verified against each supplier's published page.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9166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736"/>
                <a:gridCol w="1109167"/>
                <a:gridCol w="1663750"/>
                <a:gridCol w="1432674"/>
                <a:gridCol w="508368"/>
                <a:gridCol w="693229"/>
                <a:gridCol w="878090"/>
                <a:gridCol w="600798"/>
                <a:gridCol w="3188855"/>
              </a:tblGrid>
              <a:tr h="16002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Company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Website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 page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MOQ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$/unit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Total MOQ$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Score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Notes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</a:tr>
              <a:tr h="16002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BLIS Technologies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2"/>
                        </a:rPr>
                        <a:t>blis.co.nz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Private-label S. salivarius K12 lozenge — root-cause oral probiotic with halitosis clinical evidence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3"/>
                        </a:rPr>
                        <a:t>K12 FreshBreath Lozenge (Private Label)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$2.00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82</a:t>
                      </a:r>
                    </a:p>
                  </a:txBody>
                  <a:tcPr>
                    <a:solidFill>
                      <a:srgbClr val="E6C99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NZ; only finished-goods private-label K12 program. 1.25B CFU peppermint lozenge, 40-ct blister pack. RFQ MOQ; positioned as the root-cause SKU in our 3-supplier slate.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RECOMMENDED LEAD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BLIS Technologies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 · score 82/100 · MOQ 100 · $2.00/unit · total $200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03 · Side effect 3 of 5 · Oral biotin + collagen capsule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A1512"/>
                </a:solidFill>
                <a:latin typeface="Cormorant Garamond"/>
              </a:rPr>
              <a:t>Hair Loss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443484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THE 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304288"/>
            <a:ext cx="493776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423160"/>
            <a:ext cx="4937760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A1512"/>
                </a:solidFill>
                <a:latin typeface="IBM Plex Sans"/>
              </a:rPr>
              <a:t>Telogen effluvium — diffuse shedding 2–4 months after rapid weight loss begins. Affects ~6–13% of GLP-1 users (Shah 2024). Compounded by reduced protein/micronutrient intake under appetite suppression.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5605272" cy="2011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9933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ROOT CAUSE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30428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2395728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Stress shock from rapid caloric deficit shifts hair follicles from anagen to telogen phase prematurely.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Sub-clinical iron, zinc, vitamin D, B12 deficiencies common under reduced food intake.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Marine collagen / amino-acid building blocks (cysteine, methionine) drop with low-protein eating patterns.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931920"/>
            <a:ext cx="5605272" cy="23317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0965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BEST OTC REMEDIES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440740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4498848"/>
            <a:ext cx="52120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Biotin (5–10 mg/day) — supports keratin synthesis; strongest evidence in deficient subjects.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Marine collagen peptides (10g/day) — provide hair-building amino acids.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Iron + vitamin C (in deficient subjects only — test first).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Saw palmetto + DHT-related blends — emerging evidence for androgenetic component.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03 · Side effect 3 of 5 · Oral biotin + collagen capsule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Hair Loss — 1 shortlisted supplier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5D4C"/>
                </a:solidFill>
                <a:latin typeface="IBM Plex Sans"/>
              </a:rPr>
              <a:t>Stock-formula private-label SKUs only. MOQ + total cost verified against each supplier's published page.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9166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736"/>
                <a:gridCol w="1109167"/>
                <a:gridCol w="1663750"/>
                <a:gridCol w="1432674"/>
                <a:gridCol w="508368"/>
                <a:gridCol w="693229"/>
                <a:gridCol w="878090"/>
                <a:gridCol w="600798"/>
                <a:gridCol w="3188855"/>
              </a:tblGrid>
              <a:tr h="16002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Company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Website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 page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MOQ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$/unit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Total MOQ$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Score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Notes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</a:tr>
              <a:tr h="16002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Vox Nutrition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2"/>
                        </a:rPr>
                        <a:t>voxnutrition.com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Custom biotin + marine collagen capsule; NSF + FDA + cGMP + Organic certified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3"/>
                        </a:rPr>
                        <a:t>Hair, Skin &amp; Nails Capsule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50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$4.50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$225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72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Utah-based US private-label specialist. 7–10 day turnaround. Only US supplier with publicly stated &lt;100 MOQ for biotin+collagen blend. Best-in-class certifications.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RECOMMENDED LEAD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Vox Nutrition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 · score 72/100 · MOQ 50 · $4.50/unit · total $225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04 · Side effect 4 of 5 · Ginger + B6 chew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A1512"/>
                </a:solidFill>
                <a:latin typeface="Cormorant Garamond"/>
              </a:rPr>
              <a:t>Nausea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443484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THE 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304288"/>
            <a:ext cx="493776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423160"/>
            <a:ext cx="4937760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A1512"/>
                </a:solidFill>
                <a:latin typeface="IBM Plex Sans"/>
              </a:rPr>
              <a:t>The single most common GLP-1 side effect — ~24–44% of users experience nausea, especially during dose escalation. Driven by delayed gastric emptying. Most-cited reason for discontinuation in the first 8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5605272" cy="2011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9933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ROOT CAUSE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30428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2395728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GLP-1 agonists slow gastric emptying by 30–70% — food sits longer, distends the stomach, triggers vagal nausea signals.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Central CNS effects on the area postrema also contribute (same brainstem region as motion sickness).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Worst during titration (week 1–2 of each dose step); tolerance often develops over 4–8 weeks.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931920"/>
            <a:ext cx="5605272" cy="23317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0965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BEST OTC REMEDIES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440740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4498848"/>
            <a:ext cx="52120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Ginger root (1–1.5 g/day) — RCT-validated for chemo, pregnancy, and post-op nausea.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Vitamin B6 (pyridoxine, 25–75 mg) — first-line for morning sickness; synergistic with ginger.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Acupressure wristbands (P6 / Nei-Kuan) — FDA-cleared Class I device for nausea.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Peppermint oil / lozenges — modest relief via anti-spasmodic effect on gastric muscle.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04 · Side effect 4 of 5 · Ginger + B6 chew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Nausea — 3 shortlisted suppliers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5D4C"/>
                </a:solidFill>
                <a:latin typeface="IBM Plex Sans"/>
              </a:rPr>
              <a:t>Stock-formula private-label SKUs only. MOQ + total cost verified against each supplier's published page.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9166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736"/>
                <a:gridCol w="1109167"/>
                <a:gridCol w="1663750"/>
                <a:gridCol w="1432674"/>
                <a:gridCol w="508368"/>
                <a:gridCol w="693229"/>
                <a:gridCol w="878090"/>
                <a:gridCol w="600798"/>
                <a:gridCol w="3188855"/>
              </a:tblGrid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Company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Website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 page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MOQ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$/unit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Total MOQ$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Score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Notes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ING Pharmaceutical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2"/>
                        </a:rPr>
                        <a:t>ingpharmaceutical.com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Nausea Relief Softgel — Ginger Root 67mg + B6 1.4mg + Mg carbonate (ready formula)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3"/>
                        </a:rPr>
                        <a:t>Nausea Relief Softgel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$2.50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$250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82</a:t>
                      </a:r>
                    </a:p>
                  </a:txBody>
                  <a:tcPr>
                    <a:solidFill>
                      <a:srgbClr val="E6C99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RFQ — MOQ negotiable; ready-to-fill formula exact-match for GLP-1 nausea positioning. 300+ brands served. Phone (786) 518-2903. FDA-grade softgel.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Shaanxi VitaHall Biotechnology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4"/>
                        </a:rPr>
                        <a:t>alibaba.com/product-detail…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Vegan ginger root extract gummies, private-label OEM/ODM; chewable digestion-support format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4"/>
                        </a:rPr>
                        <a:t>VitaHall Ginger Root Extract Gummies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$5.00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$50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70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Shaanxi, China. MOQ 10 bottles (verified on product page) — lowest published in category. Unit price uses high-end of observed $1.70–5 range as conservative low-qty tier. Ginger-as-hero stock SKU; B6 add-on via custom run.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Shaanxi Suni Green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5"/>
                        </a:rPr>
                        <a:t>alibaba.com/product-detail…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Organic ginger root extract gummies, private-label OEM/ODM; chewable digestion-support format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5"/>
                        </a:rPr>
                        <a:t>SUNI Organic Ginger Root Extract Gummies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$2.20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$220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66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Shaanxi, China. MOQ 100 bottles (verified on product page). Unit price $2.20 is high-end of observed $1.55–2.20 range. Vegan + organic certs. Direct competitor to VitaHall.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RECOMMENDED LEAD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ING Pharmaceutical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 · score 82/100 · MOQ 100 · $2.50/unit · total $250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05 · Side effect 5 of 5 · GLP-1 targeted multivitamin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A1512"/>
                </a:solidFill>
                <a:latin typeface="Cormorant Garamond"/>
              </a:rPr>
              <a:t>Nutrient Depletion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443484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THE 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304288"/>
            <a:ext cx="493776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423160"/>
            <a:ext cx="4937760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A1512"/>
                </a:solidFill>
                <a:latin typeface="IBM Plex Sans"/>
              </a:rPr>
              <a:t>Reduced caloric intake (often 1,000–1,200 kcal/day) creates predictable micronutrient gaps. ~13–22% of GLP-1 users develop documented deficiencies. Compounds the muscle-loss and hair-thinning problems.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5605272" cy="2011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9933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ROOT CAUSE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30428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2395728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Reduced food volume → reduced intake of B12, magnesium, potassium, vitamin D, K2, iodine.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Loss of food preferences (anhedonia) further narrows the nutrient base actually consumed.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GLP-1 receptor activity in pancreas + gut may reduce absorption efficiency for some micronutrients.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931920"/>
            <a:ext cx="5605272" cy="23317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0965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BEST OTC REMEDIES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440740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4498848"/>
            <a:ext cx="52120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GLP-1-targeted multivitamin: B-complex (esp. B12 methylcobalamin), Mg glycinate, K2 (MK-7), D3.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Electrolyte sticks (Na + K + Mg) — counter the hypovolemia / lightheadedness common in week 1–4.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Whey or plant protein shakes (20–30g) — supplement protein intake (often &lt;60g/day on GLP-1).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Comprehensive labs (CBC, CMP, B12, vit D, ferritin) every 3–6 months while on therapy.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05 · Side effect 5 of 5 · GLP-1 targeted multivitamin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Nutrient Depletion — 1 shortlisted supplier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5D4C"/>
                </a:solidFill>
                <a:latin typeface="IBM Plex Sans"/>
              </a:rPr>
              <a:t>Stock-formula private-label SKUs only. MOQ + total cost verified against each supplier's published page.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9166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736"/>
                <a:gridCol w="1109167"/>
                <a:gridCol w="1663750"/>
                <a:gridCol w="1432674"/>
                <a:gridCol w="508368"/>
                <a:gridCol w="693229"/>
                <a:gridCol w="878090"/>
                <a:gridCol w="600798"/>
                <a:gridCol w="3188855"/>
              </a:tblGrid>
              <a:tr h="16002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Company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Website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 page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MOQ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$/unit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Total MOQ$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Score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Notes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</a:tr>
              <a:tr h="16002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Aogubio (Xi'an)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2"/>
                        </a:rPr>
                        <a:t>aogubio.com/dietary-supple…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OEM multivitamin capsule (B12, Mg-glycinate, K2 MK-7, D3, B-complex blend)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3"/>
                        </a:rPr>
                        <a:t>Vitamin B12 Methylcobalamin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$1.75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$175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71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Xi'an-based China OEM. Hits both gates (MOQ 100 AND total &lt;$250). Custom GLP-1 blend spec'd by buyer; 2-4 wk lead. Lab COA per batch; ISO + GMP cert.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RECOMMENDED LEAD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Aogubio (Xi'an)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 · score 71/100 · MOQ 100 · $1.75/unit · total $175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06 · Add-on · Two-SKU folding-mailer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A1512"/>
                </a:solidFill>
                <a:latin typeface="Cormorant Garamond"/>
              </a:rPr>
              <a:t>Outer Packaging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443484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THE BRIEF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304288"/>
            <a:ext cx="493776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42316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1A1512"/>
                </a:solidFill>
                <a:latin typeface="IBM Plex Sans"/>
              </a:rPr>
              <a:t>Every Aplomb SKU needs an outer mailer that ships flat, weighs almost nothing, and reads editorial — not generic corrugated. Reference: Musely's matte mauve folding-carton mailer (single-color exterior, branded interior message, soft tactile paperboard). Two carton SKUs cover the line: a small mailer for the serum, capsule bottles, and lozenge tin; a large mailer for the Calm kit.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4846320"/>
            <a:ext cx="493776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4937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MUSELY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30368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A1512"/>
                </a:solidFill>
                <a:latin typeface="IBM Plex Sans"/>
              </a:rPr>
              <a:t>Musely (telehealth dermatology, founded 2013) commissioned its brand evolution from White and Salt design studio. Musely's specific carton vendor is not public; the closest production-format match for the same paperboard mailer at MOQ 200-400 is Arka or noissue. RFQ both as the path of least resistance to a Musely-equivalent first run.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828800"/>
            <a:ext cx="5605272" cy="26974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9933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CARTON SPEC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63640" y="230428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63640" y="2395728"/>
            <a:ext cx="5212080" cy="21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Small carton — ~120 × 60 × 60 mm interior · fits Serum, Daily, Roots, Composure tin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Large carton — ~180 × 110 × 50 mm interior · fits Calm kit (largest single SKU footprint)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Style — roll-end tuck-top (RETT) or auto-bottom paperboard mailer · matte uncoated · single-color exterior in amber #7A3D14 on bone #F7F1E6 · interior message in Cormorant Garamond italic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MOQ band — 200-400 per carton SKU (so 400-800 cartons total across both die lines for first run)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Hard gates — US production · custom interior print · MOQ ≤ 400 per SKU · willing to run two die lines on same project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4617720"/>
            <a:ext cx="5605272" cy="16459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47548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SCORING RUBRIC (0-100)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63640" y="504748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63640" y="5120640"/>
            <a:ext cx="52120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900" b="0" i="0">
                <a:solidFill>
                  <a:srgbClr val="1A1512"/>
                </a:solidFill>
                <a:latin typeface="IBM Plex Sans"/>
              </a:rPr>
              <a:t>30% Customization fidelity — exterior + interior print, matte uncoated, finishes (foil/deboss optional) — Musely-quality reference match</a:t>
            </a:r>
          </a:p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900" b="0" i="0">
                <a:solidFill>
                  <a:srgbClr val="1A1512"/>
                </a:solidFill>
                <a:latin typeface="IBM Plex Sans"/>
              </a:rPr>
              <a:t>25% MOQ fit at 200-400 per SKU</a:t>
            </a:r>
          </a:p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900" b="0" i="0">
                <a:solidFill>
                  <a:srgbClr val="1A1512"/>
                </a:solidFill>
                <a:latin typeface="IBM Plex Sans"/>
              </a:rPr>
              <a:t>20% Lead time + reliability — sub-4-week production ideal</a:t>
            </a:r>
          </a:p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900" b="0" i="0">
                <a:solidFill>
                  <a:srgbClr val="1A1512"/>
                </a:solidFill>
                <a:latin typeface="IBM Plex Sans"/>
              </a:rPr>
              <a:t>15% Cost at MOQ — combined small + large at 300/300</a:t>
            </a:r>
          </a:p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900" b="0" i="0">
                <a:solidFill>
                  <a:srgbClr val="1A1512"/>
                </a:solidFill>
                <a:latin typeface="IBM Plex Sans"/>
              </a:rPr>
              <a:t>10% Sustainability + brand fit — FSC / recycled paperboard preferred (not gated)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06 · Add-on · Two-SKU folding-mailer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Outer Packaging — 5 shortlisted suppliers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5D4C"/>
                </a:solidFill>
                <a:latin typeface="IBM Plex Sans"/>
              </a:rPr>
              <a:t>US folding-mailer vendors at MOQ 200-400 per SKU. Pricing reflects 300-unit run of EACH die line (small + large) — combined cost of first order.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91667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736"/>
                <a:gridCol w="1109167"/>
                <a:gridCol w="1663750"/>
                <a:gridCol w="1432674"/>
                <a:gridCol w="508368"/>
                <a:gridCol w="693229"/>
                <a:gridCol w="878090"/>
                <a:gridCol w="600798"/>
                <a:gridCol w="3188855"/>
              </a:tblGrid>
              <a:tr h="65532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Company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Website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 page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MOQ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$/unit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Total MOQ$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Score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Notes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</a:tr>
              <a:tr h="65532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Arka (Packlane)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2"/>
                        </a:rPr>
                        <a:t>packlane.com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Custom paperboard mailer · full-color in/out · matte / satin / Dreamcoat finishes · custom dies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3"/>
                        </a:rPr>
                        <a:t>Mailer Box (custom)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200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$3.40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$2,040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88</a:t>
                      </a:r>
                    </a:p>
                  </a:txBody>
                  <a:tcPr>
                    <a:solidFill>
                      <a:srgbClr val="E6C99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San Francisco · MOQ 1+ (so 200/400 trivial) · 100% US-made · ~10-day standard lead, 7-day rush · instant online proof · Shopify/WMS integration. Combined cost = 300 small + 300 large @ ~$3.40 weighted avg. RECOMMENDED lead — fastest path to Musely-style sample.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  <a:tr h="65532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EcoEnclose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4"/>
                        </a:rPr>
                        <a:t>ecoenclose.com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Custom shipping box · 100% recycled FSC kraft (95% post-consumer) · multi-panel interior print up to 2 colors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5"/>
                        </a:rPr>
                        <a:t>Custom Shipping Box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$3.85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$2,310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81</a:t>
                      </a:r>
                    </a:p>
                  </a:txBody>
                  <a:tcPr>
                    <a:solidFill>
                      <a:srgbClr val="E6C99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Colorado · 100% recycled · FSC SCS-COC-009926 · HydroSoy/Black-Algae inks (no plastic lamination) · made in USA. Best sustainability story; kraft-only exterior reads less Musely-velvet, more clinical/honest.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  <a:tr h="65532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Refine Packaging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6"/>
                        </a:rPr>
                        <a:t>refinepackaging.com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Custom mailer box · 10-28pt board (kraft / cardstock / e-flute corrugated) · gloss / matte / spot UV finishes · interior + exterior print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7"/>
                        </a:rPr>
                        <a:t>Custom Mailer Box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$3.20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$1,920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80</a:t>
                      </a:r>
                    </a:p>
                  </a:txBody>
                  <a:tcPr>
                    <a:solidFill>
                      <a:srgbClr val="E6C99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US-based · MOQ 100 · ~$2-5/unit at 100-500 · 8-10 day standard, 4-6 day rush · free US shipping · pre-production mockup included. Best $/unit at MOQ 200-400.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  <a:tr h="65532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noissue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8"/>
                        </a:rPr>
                        <a:t>noissue.co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Custom mailer box · FSC-certified recycled paperboard · full color in/out · branded-DTC focus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9"/>
                        </a:rPr>
                        <a:t>Custom Mailer Box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$4.10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$2,460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78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US distribution · MOQ 100 · FSC + carbon-neutral · in-house brand-design support (closest to Musely's White-and-Salt-led aesthetic). 4-6 wk lead is the trade-off vs. Arka. Premium feel.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  <a:tr h="65532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PakFactory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10"/>
                        </a:rPr>
                        <a:t>pakfactory.com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Custom folding paperboard carton · premium finishes (soft-touch, foil, emboss, UV) · multiple paperboard substrates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11"/>
                        </a:rPr>
                        <a:t>Folding Carton &amp; Paperboard Boxes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$2.95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$1,770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75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HQ Markham, Ontario (Canada — soft-fails the US-only gate; included for cost-comparison). Best premium-finish range (soft-touch matches Musely's tactile feel). 3-4 wk lead. Pakible (US, RFQ-only) is a sixth alternative if needed.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43600"/>
            <a:ext cx="11091672" cy="5029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60350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RECOMMENDED LEAD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Arka (Packlane)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 · score 88/100 · MOQ 200 · $3.40/unit · total $2,040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07 ·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Cross-cutting recommendations.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91672" cy="260604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RECOMMENDED LEAD SUPPLIER PER CATEGORY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48840"/>
            <a:ext cx="106070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28600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B5D4C"/>
                </a:solidFill>
                <a:latin typeface="IBM Plex Sans"/>
              </a:rPr>
              <a:t>Ozempic Face           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Cellular Cosmetics</a:t>
            </a:r>
            <a:r>
              <a:rPr sz="1050" b="0" i="0">
                <a:solidFill>
                  <a:srgbClr val="6B5D4C"/>
                </a:solidFill>
                <a:latin typeface="IBM Plex Sans"/>
              </a:rPr>
              <a:t>  ·  score 84/100  ·  MOQ 10  ·  total $250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B5D4C"/>
                </a:solidFill>
                <a:latin typeface="IBM Plex Sans"/>
              </a:rPr>
              <a:t>Halitosis ("Ozempic breath")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BLIS Technologies</a:t>
            </a:r>
            <a:r>
              <a:rPr sz="1050" b="0" i="0">
                <a:solidFill>
                  <a:srgbClr val="6B5D4C"/>
                </a:solidFill>
                <a:latin typeface="IBM Plex Sans"/>
              </a:rPr>
              <a:t>  ·  score 82/100  ·  MOQ 100  ·  total $200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B5D4C"/>
                </a:solidFill>
                <a:latin typeface="IBM Plex Sans"/>
              </a:rPr>
              <a:t>Hair Loss              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Vox Nutrition</a:t>
            </a:r>
            <a:r>
              <a:rPr sz="1050" b="0" i="0">
                <a:solidFill>
                  <a:srgbClr val="6B5D4C"/>
                </a:solidFill>
                <a:latin typeface="IBM Plex Sans"/>
              </a:rPr>
              <a:t>  ·  score 72/100  ·  MOQ 50  ·  total $225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B5D4C"/>
                </a:solidFill>
                <a:latin typeface="IBM Plex Sans"/>
              </a:rPr>
              <a:t>Nausea                 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ING Pharmaceutical</a:t>
            </a:r>
            <a:r>
              <a:rPr sz="1050" b="0" i="0">
                <a:solidFill>
                  <a:srgbClr val="6B5D4C"/>
                </a:solidFill>
                <a:latin typeface="IBM Plex Sans"/>
              </a:rPr>
              <a:t>  ·  score 82/100  ·  MOQ 100  ·  total $250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B5D4C"/>
                </a:solidFill>
                <a:latin typeface="IBM Plex Sans"/>
              </a:rPr>
              <a:t>Nutrient Depletion     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Aogubio (Xi'an)</a:t>
            </a:r>
            <a:r>
              <a:rPr sz="1050" b="0" i="0">
                <a:solidFill>
                  <a:srgbClr val="6B5D4C"/>
                </a:solidFill>
                <a:latin typeface="IBM Plex Sans"/>
              </a:rPr>
              <a:t>  ·  score 71/100  ·  MOQ 100  ·  total $175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B5D4C"/>
                </a:solidFill>
                <a:latin typeface="IBM Plex Sans"/>
              </a:rPr>
              <a:t>Outer Packaging        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Arka (Packlane)</a:t>
            </a:r>
            <a:r>
              <a:rPr sz="1050" b="0" i="0">
                <a:solidFill>
                  <a:srgbClr val="6B5D4C"/>
                </a:solidFill>
                <a:latin typeface="IBM Plex Sans"/>
              </a:rPr>
              <a:t>  ·  score 88/100  ·  MOQ 200  ·  total $2,040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26280"/>
            <a:ext cx="11091672" cy="18288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IMMEDIATE ACTIONS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4983480"/>
            <a:ext cx="106070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5102352"/>
            <a:ext cx="1060704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1.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Send the RFQ template (in AFTER_supplier_directory_v1.xlsx Sheet 5) to all 6 lead suppliers this week — five formula vendors plus the packaging lead (Arka).</a:t>
            </a:r>
          </a:p>
          <a:p>
            <a:pPr algn="l">
              <a:lnSpc>
                <a:spcPct val="140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2.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Order packaging samples in parallel with formula RFQs: one small carton + one large carton from the top two packaging vendors (Arka + Refine Packaging) at $0 commitment to validate the Musely-style tactile quality.</a:t>
            </a:r>
          </a:p>
          <a:p>
            <a:pPr algn="l">
              <a:lnSpc>
                <a:spcPct val="140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3.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Negotiate sample units (3–5 per SKU) for in-house QC before committing to MOQ runs on the formula side.</a:t>
            </a:r>
          </a:p>
          <a:p>
            <a:pPr algn="l">
              <a:lnSpc>
                <a:spcPct val="140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4.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Lock packaging + label artwork with the brand designer before the first PO — fastest path to shippable inventory.</a:t>
            </a:r>
          </a:p>
          <a:p>
            <a:pPr algn="l">
              <a:lnSpc>
                <a:spcPct val="140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5.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Stand up a single shared Aplomb spec sheet (target ingredients, INCI, GMP cert, lab COA requirements) for every supplier.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