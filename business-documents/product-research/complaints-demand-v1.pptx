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2062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400">
                <a:solidFill>
                  <a:srgbClr val="7A3D14"/>
                </a:solidFill>
                <a:latin typeface="Helvetica Neue"/>
              </a:rPr>
              <a:t>COMPLAINTS +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0" i="0">
                <a:solidFill>
                  <a:srgbClr val="1A1512"/>
                </a:solidFill>
                <a:latin typeface="Times New Roman"/>
              </a:rPr>
              <a:t>Where the market pull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6B5D4C"/>
                </a:solidFill>
                <a:latin typeface="Times New Roman"/>
              </a:rPr>
              <a:t>Top complaints from GLP-1 users, ranked by frequency,</a:t>
            </a:r>
          </a:p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6B5D4C"/>
                </a:solidFill>
                <a:latin typeface="Times New Roman"/>
              </a:rPr>
              <a:t>intensity, and willingness to pay. Filtered to the SKUs</a:t>
            </a:r>
          </a:p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6B5D4C"/>
                </a:solidFill>
                <a:latin typeface="Times New Roman"/>
              </a:rPr>
              <a:t>we can actually buy at MOQ under 100 units.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300">
                <a:solidFill>
                  <a:srgbClr val="6B5D4C"/>
                </a:solidFill>
                <a:latin typeface="Helvetica Neue"/>
              </a:rPr>
              <a:t>PREPARED FOR ZACHARY POLL  ·  MAY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EXECUTIVE 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A1512"/>
                </a:solidFill>
                <a:latin typeface="Times New Roman"/>
              </a:rPr>
              <a:t>Three SKUs pass the MOQ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Three pass under 100 units. Three more would have made the cut on demand alone but failed on supply, regulation, or brand 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611880" cy="32918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CANDIDATE A  ·  RANK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Nutrient Deficiency Stack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840480"/>
            <a:ext cx="30632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977639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7A3D14"/>
                </a:solidFill>
                <a:latin typeface="Times New Roman"/>
              </a:rPr>
              <a:t>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5D4C"/>
                </a:solidFill>
                <a:latin typeface="Helvetica Neue"/>
              </a:rPr>
              <a:t>of GLP-1 users develop a deficiency in 12 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MOQ  50 to 75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Suppliers  Makers Nutrition, Vitaquest, ProTab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606040"/>
            <a:ext cx="3611880" cy="32918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CANDIDATE B  ·  RANK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Hair Thinning Stack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840480"/>
            <a:ext cx="30632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3977639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7A3D14"/>
                </a:solidFill>
                <a:latin typeface="Times New Roman"/>
              </a:rPr>
              <a:t>6 to 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5D4C"/>
                </a:solidFill>
                <a:latin typeface="Helvetica Neue"/>
              </a:rPr>
              <a:t>of GLP-1 users report hair thinning (Shah 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MOQ  50 to 75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86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Suppliers  Makers Nutrition, ProTab, DLAB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606040"/>
            <a:ext cx="3611880" cy="32918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CANDIDATE C  ·  RANK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Nausea Titration Kit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21040" y="3840480"/>
            <a:ext cx="30632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40" y="3977639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7A3D14"/>
                </a:solidFill>
                <a:latin typeface="Times New Roman"/>
              </a:rPr>
              <a:t>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177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5D4C"/>
                </a:solidFill>
                <a:latin typeface="Helvetica Neue"/>
              </a:rPr>
              <a:t>median nausea prevalence in GLP-1 trials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2120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MOQ  25 to 50 units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486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Suppliers  Makers Nutrition, ProTab, generic ginger CMs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035040"/>
            <a:ext cx="11109960" cy="329184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0899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spc="200">
                <a:solidFill>
                  <a:srgbClr val="F7F1E6"/>
                </a:solidFill>
                <a:latin typeface="Helvetica Neue"/>
              </a:rPr>
              <a:t>SKIP  ·  muscle / collagen (1,500 MOQ)  ·  constipation (commoditized)  ·  mental health (reg burden)  ·  peptide adjuncts (FDA risk)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METHODOLOGY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03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0" i="0">
                <a:solidFill>
                  <a:srgbClr val="1A1512"/>
                </a:solidFill>
                <a:latin typeface="Times New Roman"/>
              </a:rPr>
              <a:t>How the ranking was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Three filters, applied in order. The first two define market pull. The third decides what we can actually buy.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7A3D14"/>
                </a:solidFill>
                <a:latin typeface="Times New Roman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37560"/>
            <a:ext cx="5486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5204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Real-world prevalence among active GLP-1 users. STEP-1 (Wilding 2021, N=1,961), SURMOUNT-1 (Jastreboff 2022, N=2,539), STEP-5 (Rubino 2023, N=1,738), Pham et al. (Nutrients 2024, N=3,240), Shah et al. (JAAD 2024, N=187,400). RCT and EHR rates triangulated.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517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7A3D14"/>
                </a:solidFill>
                <a:latin typeface="Times New Roman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0" y="3337560"/>
            <a:ext cx="5486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0" y="35204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Intensity + WTP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3434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Severity scored 1 to 10 from pain inventory + scorecard. Willingness-to-pay derived from telehealth bundle pricing (Hims, Ro, Henry Meds), supplement DTC pricing (LMNT, Pendulum, Nutrafol), and forum quotes. Rebound, mental health, and food aversion show the highest WTP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517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7A3D14"/>
                </a:solidFill>
                <a:latin typeface="Times New Roman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3337560"/>
            <a:ext cx="5486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46720" y="35204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MOQ 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3434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Hard filter at 100 units. Sourced from supplier directory (13 cosmetic CMs, 4 collagen CMs, telehealth options). Supplement capsules and stick-pack powders pass at 25 to 75 MOQ. Type II collagen requires 1,500. Telehealth (mental health, rebound) is not a CPG MOQ problem at 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1">
                <a:solidFill>
                  <a:srgbClr val="6B5D4C"/>
                </a:solidFill>
                <a:latin typeface="Helvetica Neue"/>
              </a:rPr>
              <a:t>Sources used in this deck: GLP1_pain_inventory.csv, GLP1_evidence_table.csv, GLP1_opportunity_scorecard.csv, GLP1_unit_economics.csv, supplier_directory_data.py, Pham 2024, Shah 2024, STEP-1, SURMOUNT-1.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01  ·  FREQUENCY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04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A1512"/>
                </a:solidFill>
                <a:latin typeface="Times New Roman"/>
              </a:rPr>
              <a:t>The complaint landscape, ranked.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B5D4C"/>
                </a:solidFill>
                <a:latin typeface="Times New Roman"/>
              </a:rPr>
              <a:t>Real-world prevalence among GLP-1 users. The bar shows the low-to-high range; the dot marks the midpoint.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18304" y="2468880"/>
            <a:ext cx="0" cy="3657600"/>
          </a:xfrm>
          <a:prstGeom prst="line">
            <a:avLst/>
          </a:prstGeom>
          <a:ln w="508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43984" y="61722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10%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7648" y="2468880"/>
            <a:ext cx="0" cy="3657600"/>
          </a:xfrm>
          <a:prstGeom prst="line">
            <a:avLst/>
          </a:prstGeom>
          <a:ln w="508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53328" y="61722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20%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36992" y="2468880"/>
            <a:ext cx="0" cy="3657600"/>
          </a:xfrm>
          <a:prstGeom prst="line">
            <a:avLst/>
          </a:prstGeom>
          <a:ln w="508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62672" y="61722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30%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46336" y="2468880"/>
            <a:ext cx="0" cy="3657600"/>
          </a:xfrm>
          <a:prstGeom prst="line">
            <a:avLst/>
          </a:prstGeom>
          <a:ln w="508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72016" y="61722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1722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981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Nausea / vomiting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1385" y="2534716"/>
            <a:ext cx="3218688" cy="201168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16721" y="257129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1513" y="25164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24-44%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639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Muscle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3254" y="2900476"/>
            <a:ext cx="2253082" cy="201168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55787" y="293705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37776" y="28821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26-40%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296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Diarrhea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3910" y="3266236"/>
            <a:ext cx="2253082" cy="201168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746443" y="330281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2" y="32479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16-30%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5954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Constipation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01107" y="3631996"/>
            <a:ext cx="1770278" cy="201168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022238" y="366857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62825" y="36137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13-24%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611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Nutrient deficiency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01107" y="3997756"/>
            <a:ext cx="1448409" cy="201168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861304" y="403433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40956" y="39794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13-22%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3269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Mental health (anxiety/dep.)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18304" y="4363516"/>
            <a:ext cx="804672" cy="201168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056632" y="440009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14416" y="43452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10-15%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927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Hair thinning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74566" y="4729276"/>
            <a:ext cx="1126541" cy="201168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3828" y="476585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92547" y="47109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6-13%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584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Food aversion / anhedonia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13632" y="5095036"/>
            <a:ext cx="804672" cy="201168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251960" y="513161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09744" y="50767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5-10%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4242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Ozempic face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13632" y="5460796"/>
            <a:ext cx="804672" cy="201168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251960" y="549737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09744" y="54425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5-10%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7899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Injection anxiety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13632" y="5826556"/>
            <a:ext cx="482803" cy="201168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091025" y="5863132"/>
            <a:ext cx="128016" cy="128016"/>
          </a:xfrm>
          <a:prstGeom prst="ellipse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87875" y="58082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A1512"/>
                </a:solidFill>
                <a:latin typeface="Helvetica Neue"/>
              </a:rPr>
              <a:t>5-8%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822960"/>
            <a:ext cx="164592" cy="164592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09560" y="777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1A1512"/>
                </a:solidFill>
                <a:latin typeface="Helvetica Neue"/>
              </a:rPr>
              <a:t>MOQ-viable (under 100)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822960"/>
            <a:ext cx="164592" cy="164592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287000" y="777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1A1512"/>
                </a:solidFill>
                <a:latin typeface="Helvetica Neue"/>
              </a:rPr>
              <a:t>MOQ blocker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02  ·  SEVERITY X FREQUENCY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05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A1512"/>
                </a:solidFill>
                <a:latin typeface="Times New Roman"/>
              </a:rPr>
              <a:t>Severity vs frequency. Two facts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B5D4C"/>
                </a:solidFill>
                <a:latin typeface="Times New Roman"/>
              </a:rPr>
              <a:t>Top-right is the strongest pull. Amber dots pass the MOQ filter; grey dots do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468880"/>
            <a:ext cx="9601200" cy="36576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303520" y="2468880"/>
            <a:ext cx="0" cy="3657600"/>
          </a:xfrm>
          <a:prstGeom prst="line">
            <a:avLst/>
          </a:prstGeom>
          <a:ln w="5080">
            <a:solidFill>
              <a:srgbClr val="D9CFBD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3931920"/>
            <a:ext cx="9601200" cy="0"/>
          </a:xfrm>
          <a:prstGeom prst="line">
            <a:avLst/>
          </a:prstGeom>
          <a:ln w="5080">
            <a:solidFill>
              <a:srgbClr val="D9CFBD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4440" y="6172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6172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6172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6172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6172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172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 spc="300">
                <a:solidFill>
                  <a:srgbClr val="1A1512"/>
                </a:solidFill>
                <a:latin typeface="Helvetica Neue"/>
              </a:rPr>
              <a:t>FREQUENCY  (% of GLP-1 users affected)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60167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221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090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3591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1A1512"/>
                </a:solidFill>
                <a:latin typeface="Helvetica Neue"/>
              </a:rPr>
              <a:t>SEVERITY</a:t>
            </a:r>
          </a:p>
        </p:txBody>
      </p:sp>
      <p:sp>
        <p:nvSpPr>
          <p:cNvPr id="27" name="Oval 26"/>
          <p:cNvSpPr/>
          <p:nvPr/>
        </p:nvSpPr>
        <p:spPr>
          <a:xfrm>
            <a:off x="7891272" y="3465576"/>
            <a:ext cx="201168" cy="201168"/>
          </a:xfrm>
          <a:prstGeom prst="ellipse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49300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Nausea / vomiting</a:t>
            </a:r>
          </a:p>
        </p:txBody>
      </p:sp>
      <p:sp>
        <p:nvSpPr>
          <p:cNvPr id="29" name="Oval 28"/>
          <p:cNvSpPr/>
          <p:nvPr/>
        </p:nvSpPr>
        <p:spPr>
          <a:xfrm>
            <a:off x="7699248" y="3099816"/>
            <a:ext cx="201168" cy="201168"/>
          </a:xfrm>
          <a:prstGeom prst="ellipse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64424" y="31272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Muscle loss</a:t>
            </a:r>
          </a:p>
        </p:txBody>
      </p:sp>
      <p:sp>
        <p:nvSpPr>
          <p:cNvPr id="31" name="Oval 30"/>
          <p:cNvSpPr/>
          <p:nvPr/>
        </p:nvSpPr>
        <p:spPr>
          <a:xfrm>
            <a:off x="4914900" y="4197096"/>
            <a:ext cx="201168" cy="201168"/>
          </a:xfrm>
          <a:prstGeom prst="ellipse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52444" y="4224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Constipation</a:t>
            </a:r>
          </a:p>
        </p:txBody>
      </p:sp>
      <p:sp>
        <p:nvSpPr>
          <p:cNvPr id="33" name="Oval 32"/>
          <p:cNvSpPr/>
          <p:nvPr/>
        </p:nvSpPr>
        <p:spPr>
          <a:xfrm>
            <a:off x="5779008" y="4197096"/>
            <a:ext cx="201168" cy="201168"/>
          </a:xfrm>
          <a:prstGeom prst="ellipse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44184" y="4224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Diarrhea</a:t>
            </a:r>
          </a:p>
        </p:txBody>
      </p:sp>
      <p:sp>
        <p:nvSpPr>
          <p:cNvPr id="35" name="Oval 34"/>
          <p:cNvSpPr/>
          <p:nvPr/>
        </p:nvSpPr>
        <p:spPr>
          <a:xfrm>
            <a:off x="4722876" y="3465576"/>
            <a:ext cx="201168" cy="201168"/>
          </a:xfrm>
          <a:prstGeom prst="ellipse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8052" y="349300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Nutrient deficiency</a:t>
            </a:r>
          </a:p>
        </p:txBody>
      </p:sp>
      <p:sp>
        <p:nvSpPr>
          <p:cNvPr id="37" name="Oval 36"/>
          <p:cNvSpPr/>
          <p:nvPr/>
        </p:nvSpPr>
        <p:spPr>
          <a:xfrm>
            <a:off x="3762756" y="3099816"/>
            <a:ext cx="201168" cy="201168"/>
          </a:xfrm>
          <a:prstGeom prst="ellipse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85900" y="31272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Mental health (anxiety/dep.)</a:t>
            </a:r>
          </a:p>
        </p:txBody>
      </p:sp>
      <p:sp>
        <p:nvSpPr>
          <p:cNvPr id="39" name="Oval 38"/>
          <p:cNvSpPr/>
          <p:nvPr/>
        </p:nvSpPr>
        <p:spPr>
          <a:xfrm>
            <a:off x="3186684" y="3831336"/>
            <a:ext cx="201168" cy="201168"/>
          </a:xfrm>
          <a:prstGeom prst="ellipse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51860" y="36393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Hair thinning</a:t>
            </a:r>
          </a:p>
        </p:txBody>
      </p:sp>
      <p:sp>
        <p:nvSpPr>
          <p:cNvPr id="41" name="Oval 40"/>
          <p:cNvSpPr/>
          <p:nvPr/>
        </p:nvSpPr>
        <p:spPr>
          <a:xfrm>
            <a:off x="2610612" y="3831336"/>
            <a:ext cx="201168" cy="201168"/>
          </a:xfrm>
          <a:prstGeom prst="ellipse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75788" y="40782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Injection anxiety</a:t>
            </a:r>
          </a:p>
        </p:txBody>
      </p:sp>
      <p:sp>
        <p:nvSpPr>
          <p:cNvPr id="43" name="Oval 42"/>
          <p:cNvSpPr/>
          <p:nvPr/>
        </p:nvSpPr>
        <p:spPr>
          <a:xfrm>
            <a:off x="2802636" y="3831336"/>
            <a:ext cx="201168" cy="201168"/>
          </a:xfrm>
          <a:prstGeom prst="ellipse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" y="38587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Food aversion / anhedonia</a:t>
            </a:r>
          </a:p>
        </p:txBody>
      </p:sp>
      <p:sp>
        <p:nvSpPr>
          <p:cNvPr id="45" name="Oval 44"/>
          <p:cNvSpPr/>
          <p:nvPr/>
        </p:nvSpPr>
        <p:spPr>
          <a:xfrm>
            <a:off x="2802636" y="3465576"/>
            <a:ext cx="201168" cy="201168"/>
          </a:xfrm>
          <a:prstGeom prst="ellipse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40180" y="349300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1A1512"/>
                </a:solidFill>
                <a:latin typeface="Helvetica Neue"/>
              </a:rPr>
              <a:t>Ozempic 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 spc="200">
                <a:solidFill>
                  <a:srgbClr val="7A3D14"/>
                </a:solidFill>
                <a:latin typeface="Helvetica Neue"/>
              </a:rPr>
              <a:t>HIGH FREQUENCY + HIGH SEVERITY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03  ·  WILLINGNESS TO PAY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06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A1512"/>
                </a:solidFill>
                <a:latin typeface="Times New Roman"/>
              </a:rPr>
              <a:t>What people will actually pay.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B5D4C"/>
                </a:solidFill>
                <a:latin typeface="Times New Roman"/>
              </a:rPr>
              <a:t>Monthly willingness-to-pay range. Highest pull is rebound prevention and mental health, not nausea.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109960" cy="36576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SIDE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54203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WTP RANGE  (USD / MONTH)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542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5420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11109960" cy="3200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8895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Mental health (anxiety/dep.)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926080"/>
            <a:ext cx="3291840" cy="146304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288950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88950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095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Food aversion / anhedonia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246120"/>
            <a:ext cx="1645920" cy="146304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320954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2095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$300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74720"/>
            <a:ext cx="11109960" cy="3200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52958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Muscle loss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566160"/>
            <a:ext cx="548640" cy="146304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352958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52958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$150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8496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Hair thinning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886200"/>
            <a:ext cx="1645920" cy="146304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384962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84962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114800"/>
            <a:ext cx="11109960" cy="3200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16966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Ozempic face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18304" y="4206240"/>
            <a:ext cx="768096" cy="146304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416966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16966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$150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48970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Nutrient deficiency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4526280"/>
            <a:ext cx="438912" cy="146304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60" y="448970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48970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54880"/>
            <a:ext cx="11109960" cy="3200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48097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Nausea / vomiting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846320"/>
            <a:ext cx="548640" cy="146304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2560" y="480974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48097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12978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Injection anxiety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9392" y="5166360"/>
            <a:ext cx="438912" cy="146304"/>
          </a:xfrm>
          <a:prstGeom prst="rect">
            <a:avLst/>
          </a:prstGeom>
          <a:solidFill>
            <a:srgbClr val="A8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52560" y="512978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12978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394960"/>
            <a:ext cx="11109960" cy="3200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54498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Diarrhea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69664" y="5486400"/>
            <a:ext cx="219456" cy="146304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52560" y="544982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544982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76986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Constipation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59936" y="5806440"/>
            <a:ext cx="219456" cy="146304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52560" y="576986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$20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576986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04.1  · 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Nausea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The most common complaint and the biggest reason people quit early.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24 to 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of GLP-1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PASSES MOQ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Transient. Median 8 days per episode (STEP-5). Worst in weeks 1 to 4 of titration. Drops sharply by month 12.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Mild to moderate in 98% of cases (STEP-1). Severe in roughly 1.7%. Not dangerous but disabling.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Ginger 1g daily: 26-RCT Cochrane base, 30 to 50% reduction in pregnancy and chemo nausea. B6: pregnancy data, 30 to 60% reduction. ORS for hydration: established.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WHAT PEOPLE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Ginger tea or capsules (HIGH mention, 75% efficacy yes). Smaller meals (HIGH, 70%). Electrolytes (HIGH, 70%). Zofran/Reglan (MOD, 65%).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MARKET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LMNT and Pendulum already adjacent. No GLP-1-specific stack. WTP $50 to $100/mo for 30-day kit.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 spc="200">
                <a:solidFill>
                  <a:srgbClr val="F7F1E6"/>
                </a:solidFill>
                <a:latin typeface="Helvetica Neue"/>
              </a:rPr>
              <a:t>OUR TAKE  ·  Buy a kit because she will buy SOMETHING in week one. Acquisition product, not the brand anchor.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04.2  · 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08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Muscle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The obvious next product. The supply chain says 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26 to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of GLP-1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A84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RULED OUT  ·  MOQ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Ongoing while losing weight. 40 to 45% of weight loss is lean mass on semaglutide; 26% on tirzepatide. Elderly users lose 50% lean.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Functional. Strength, balance, metabolic rate all decline. Highest impact on women 50-plus.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STRONG. 49-RCT protein meta-analysis: 1.3 to 1.4 kg lean mass retention with adequate intake. 319-RCT creatine base: 0.82 to 1.14 kg FFM gain when paired with resistance training.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WHAT PEOPLE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Protein + RT (MOD, 65%). BCAA/EAA (MOD, 60%). Dietitian (LOW, 70% efficacy when accessible).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MARKET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Found and Ro have already positioned around RT. Strong WTP $100 to $150/mo. CPG commoditization risk imminent.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 spc="200">
                <a:solidFill>
                  <a:srgbClr val="F7F1E6"/>
                </a:solidFill>
                <a:latin typeface="Helvetica Neue"/>
              </a:rPr>
              <a:t>OUR TAKE  ·  Type II collagen MOQ is 1,500 units (SMPNutra). Protein powder MOQ is similar. Park this until we hit 5K subscribers.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04.3  · 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09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Nutrient Deficiency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The deficiency under everything. No incumbent owns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of GLP-1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PASSES MOQ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Ongoing. 13% deficiency at 6 months, 22% at 12 months (Pham 2024). Accumulates if untreated.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Asymptomatic until severe. Then drives the visible side effects: hair loss, fatigue, skin quality, cognition.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STRONG. ASMBS bariatric guideline mandates baseline + Q6-month labs for any patient losing more than 10% body weight. Pham 2024: 2.8x deficiency vs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WHAT PEOPLE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Multivitamin (MOD, 60%). B12 injection or sublingual (MOD, 65%). Quarterly labs (LOW, 55%; compliance issue).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MARKET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Hims and Ro do not mandate baseline labs. Lemme and Pendulum sell symptom products, not the deficiency itself. WTP $60 to $100/quarter.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 spc="200">
                <a:solidFill>
                  <a:srgbClr val="F7F1E6"/>
                </a:solidFill>
                <a:latin typeface="Helvetica Neue"/>
              </a:rPr>
              <a:t>OUR TAKE  ·  Top-ranked candidate on the shortlist. Brand-coherent, evidence-rich, MOQ 50 to 75, no incumbent.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04.4  · 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10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Constipation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High frequency. Wrong shelf to fight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13 to 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of GLP-1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PASSES MOQ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Transient to chronic. Worst during titration. Persists in 30 to 40% of long-term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Mild to moderate. Quality-of-life impact, rarely medical.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STRONG. Cochrane fiber: 16 RCTs, 3.2 to 3.9 BMs/wk. Locke PEG: 21 RCTs, 4.2 to 4.5 BMs/wk vs 2.7 to 2.9 placebo. The science is unambiguous.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WHAT PEOPLE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Magnesium glycinate (MOD, 65%). Fiber + water (MOD, 60%). Stool softener (MOD, 55%). Dose reduction (MOD, 70%).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MARKET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Metamucil and MiraLAX dominate at $5 to $15. Amazon basics + Costco entry imminent. WTP $20 to $40/mo, falling.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 spc="200">
                <a:solidFill>
                  <a:srgbClr val="F7F1E6"/>
                </a:solidFill>
                <a:latin typeface="Helvetica Neue"/>
              </a:rPr>
              <a:t>OUR TAKE  ·  Strong evidence does not equal strong business. Commoditized. Skip.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04.5  · 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11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Hair Thinning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Lower frequency than nausea. But it is the strongest brand fit we 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6 to 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of GLP-1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PASSES MOQ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Onset 3 to 6 months in. Peak 6 to 9 months. Persists 12+ months without intervention. Telogen effluvium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Psychosocial. High visibility. Drives discontinuation in a non-trivial cohort.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MODERATE. Shah 2024: AOR 1.76 for telogen effluvium, 1.64 for androgenetic alopecia. Iron and D RCTs in deficient users only. No GLP-1-specific RCT.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WHAT PEOPLE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Biotin / collagen / protein (MOD, 45% mixed efficacy). Acceptance / regrowth post-stabilization (LOW). Dermatologist (LOW, 50%).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MARKET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Lemme and Pendulum oversell biotin (no RCT support). Repositioning around iron + D + zinc has open lane. WTP $50 to $200/mo.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 spc="200">
                <a:solidFill>
                  <a:srgbClr val="F7F1E6"/>
                </a:solidFill>
                <a:latin typeface="Helvetica Neue"/>
              </a:rPr>
              <a:t>OUR TAKE  ·  Closest brand fit to the serum. Direct line extension. Same buyer, same trigger event. Keep on the shortlist as candidate 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04.6  · 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Mental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B5D4C"/>
                </a:solidFill>
                <a:latin typeface="Times New Roman"/>
              </a:rPr>
              <a:t>Highest WTP signal in the category. Wrong shape for this brand.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PREVALENCE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10 to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of GLP-1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86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WRONG SHAPE  ·  NOT CPG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Ongoing while on drug. Often resolves with dose reduction or discontinuation.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Anxiety, depression, anhedonia. Discontinuation driver. 30% comorbidity with weight concerns.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WEAK on integrated solutions. FDA found NO causal link to suicidality (91 RCTs, N=107,910). Anhedonia and food aversion are real but underdescribed.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WHAT PEOPLE 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Dose reduction (MOD, 65%). Psychiatrist + add-on meds (MOD, 55%). Therapy (LOW, 45%). Discontinuation (MOD, 70%).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MARKET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HIGHEST WTP in the category: $200 to $500/mo. Zero integrated players. But state-by-state therapist licensing is a $5K to $25K/yr reg cost.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109960" cy="54864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4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 spc="200">
                <a:solidFill>
                  <a:srgbClr val="F7F1E6"/>
                </a:solidFill>
                <a:latin typeface="Helvetica Neue"/>
              </a:rPr>
              <a:t>OUR TAKE  ·  The biggest pull, the wrong shop. Telehealth + clinical, not CPG. Park unless we hire a clinical lead.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03  ·  MOQ FILTER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13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A1512"/>
                </a:solidFill>
                <a:latin typeface="Times New Roman"/>
              </a:rPr>
              <a:t>Which complaints survive the supply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B5D4C"/>
                </a:solidFill>
                <a:latin typeface="Times New Roman"/>
              </a:rPr>
              <a:t>Hard cut: any product with supplier MOQ above 100 units does not qualify for the next launch.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109960" cy="36576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FORM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54203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MIN MOQ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42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BEST SUPPLIER HIT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5420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VERDICT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11109960" cy="3840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Nutrient Deficiency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Capsules / powder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92608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50 to 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260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Makers, Vitaquest, ProTab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926080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C6B3F"/>
                </a:solidFill>
                <a:latin typeface="Helvetica Neue"/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1012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Hair Thinning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3101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Capsules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31012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50 to 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31012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Makers, ProTab, DLAB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31012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C6B3F"/>
                </a:solidFill>
                <a:latin typeface="Helvetica Neue"/>
              </a:rPr>
              <a:t>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02736"/>
            <a:ext cx="11109960" cy="3840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69417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Nausea Titration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69417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Capsules + sticks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6941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25 to 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69417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Makers, ProTab, ginger CMs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69417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C6B3F"/>
                </a:solidFill>
                <a:latin typeface="Helvetica Neue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7822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Constipation Bundle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07822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Powder / capsules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0782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50 to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07822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Makers, ProTab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407822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869670"/>
                </a:solidFill>
                <a:latin typeface="Helvetica Neue"/>
              </a:rPr>
              <a:t>PASS but skip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70832"/>
            <a:ext cx="11109960" cy="3840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46227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Muscle / Type II Collagen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46227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Powder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4622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1,500 to 2,500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46227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SMPNutra (only Type II CM)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46227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4B2C"/>
                </a:solidFill>
                <a:latin typeface="Helvetica Neue"/>
              </a:rP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84632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Whey / Protein Powder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484632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Powder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8463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1,000 to 5,000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8463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Makers, Vitaquest, etc.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846320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4B2C"/>
                </a:solidFill>
                <a:latin typeface="Helvetica Neue"/>
              </a:rPr>
              <a:t>FAIL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138928"/>
            <a:ext cx="11109960" cy="3840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" y="523036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Compounded Peptide (BPC-157)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523036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Injection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2303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Compounded 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523036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503A pharmacy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523036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4B2C"/>
                </a:solidFill>
                <a:latin typeface="Helvetica Neue"/>
              </a:rPr>
              <a:t>FAIL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61441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Mental Health 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561441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Telehealth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80" y="561441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Per-patient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561441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Multi-state clinical net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64040" y="561441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869670"/>
                </a:solidFill>
                <a:latin typeface="Helvetica Neue"/>
              </a:rPr>
              <a:t>FAIL FOR CPG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907024"/>
            <a:ext cx="11109960" cy="3840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5800" y="599846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Injection Anxiety CBT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11880" y="599846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App / video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0680" y="599846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Digital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599846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Custom build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599846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869670"/>
                </a:solidFill>
                <a:latin typeface="Helvetica Neue"/>
              </a:rPr>
              <a:t>FAIL FOR CPG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  ·  CANDIDATE 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14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CANDIDATE A  ·  RANK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Nutrient Deficiency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1">
                <a:solidFill>
                  <a:srgbClr val="6B5D4C"/>
                </a:solidFill>
                <a:latin typeface="Times New Roman"/>
              </a:rPr>
              <a:t>The quarterly pack that keeps the labs healthy.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COMPOSITE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7.25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Helvetica Neue"/>
              </a:rPr>
              <a:t>TAM (mid case) $600M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MOQ  50 to 75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WHAT IT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43784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Four-capsule daily stack: methylcobalamin B12, vitamin D3 with K2, ferrous bisglycinate iron, zinc picolinate plus magnesium glycinate. Quarterly subscription, paired with optional at-home labs (B12, ferritin, 25-OH vitamin 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75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WHY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3931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22 percent of GLP-1 users develop a measurable deficiency by month 12 (Pham 2024). Half of women on the drug are below RDA on iron. No incumbent telehealth brand mandates baseline plus quarterly labs.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80559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STRONG. ASMBS bariatric guidelines transfer cleanly. Pham 2024 documents 2.8x deficiency vs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9262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BRAND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956047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HIGH. Deficiency is the upstream cause of the skin and hair issues the serum already addresses.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7667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HOW IT 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40095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Sells beside the serum as the inside-out half of the same skin/hair argument.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89320"/>
            <a:ext cx="11109960" cy="329184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4418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spc="200">
                <a:solidFill>
                  <a:srgbClr val="F7F1E6"/>
                </a:solidFill>
                <a:latin typeface="Helvetica Neue"/>
              </a:rPr>
              <a:t>FORM  Capsule + powder (CPG)   ·   SUPPLIERS  Makers Nutrition, Vitaquest, ProTab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  ·  CANDIDATE 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15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CANDIDATE B  ·  RANK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Hair Thinning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1">
                <a:solidFill>
                  <a:srgbClr val="6B5D4C"/>
                </a:solidFill>
                <a:latin typeface="Times New Roman"/>
              </a:rPr>
              <a:t>The shed they can actually fix.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COMPOSITE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5.35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Helvetica Neue"/>
              </a:rPr>
              <a:t>TAM (mid case) $180M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MOQ  50 to 75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WHAT IT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43784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Three-capsule daily: ferrous bisglycinate iron, vitamin D3, zinc picolinate. Optional add-on of saw palmetto. Sold as a 90-day kit with a one-page guide on telogen effluvium and what causes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75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WHY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3931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Hair thinning affects 6 to 13 percent of GLP-1 users (Shah 2024); peak onset is 3 to 6 months in. Lemme and Pendulum sell biotin, which has zero RCTs. Iron, D, and zinc have moderate evidence in deficient users. Repositioning the science wins the shelf.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80559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MODERATE. Iron and D show RCT response in deficient cohorts. No GLP-1-specific RCT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9262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BRAND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956047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HIGHEST. Hair is a visible side effect of the same volume loss the serum is positioned around.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7667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HOW IT 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40095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Direct line extension. Same buyer, same trigger event.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89320"/>
            <a:ext cx="11109960" cy="329184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4418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spc="200">
                <a:solidFill>
                  <a:srgbClr val="F7F1E6"/>
                </a:solidFill>
                <a:latin typeface="Helvetica Neue"/>
              </a:rPr>
              <a:t>FORM  Capsule (CPG)   ·   SUPPLIERS  Makers Nutrition, ProTab, DLAB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04  ·  CANDIDATE 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16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300">
                <a:solidFill>
                  <a:srgbClr val="7A3D14"/>
                </a:solidFill>
                <a:latin typeface="Helvetica Neue"/>
              </a:rPr>
              <a:t>CANDIDATE C  ·  RANK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A1512"/>
                </a:solidFill>
                <a:latin typeface="Times New Roman"/>
              </a:rPr>
              <a:t>Nausea Titration 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1">
                <a:solidFill>
                  <a:srgbClr val="6B5D4C"/>
                </a:solidFill>
                <a:latin typeface="Times New Roman"/>
              </a:rPr>
              <a:t>The kit she needs in week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914400"/>
            <a:ext cx="2743200" cy="219456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COMPOSITE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371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A1512"/>
                </a:solidFill>
                <a:latin typeface="Times New Roman"/>
              </a:rPr>
              <a:t>5.45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Helvetica Neue"/>
              </a:rPr>
              <a:t>TAM (mid case) $300M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461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spc="200">
                <a:solidFill>
                  <a:srgbClr val="F7F1E6"/>
                </a:solidFill>
                <a:latin typeface="Helvetica Neue"/>
              </a:rPr>
              <a:t>MOQ  25 to 50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WHAT IT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43784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30-day starter kit timed to first dose escalation: ginger root capsules (1g/day), vitamin B6, electrolyte stick packs (no sugar), and a printed card with timing rules and red flags.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75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WHY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3931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Nausea hits 24 to 44 percent of users in weeks 1 to 4 (STEP-1, SURMOUNT-1). It is the single biggest reason people quit early. Ginger has 26 RCTs of evidence; B6 has pregnancy data; electrolytes have ORS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80559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MODERATE. Adjacent-population RCTs strong. No GLP-1-specific RCT (12-week trial fills that gap).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9262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BRAND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956047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MEDIUM. Symptom-management more than wellness. Risks pulling brand toward urgent-care positioning.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7667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7A3D14"/>
                </a:solidFill>
                <a:latin typeface="Helvetica Neue"/>
              </a:rPr>
              <a:t>HOW IT 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40095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512"/>
                </a:solidFill>
                <a:latin typeface="Helvetica Neue"/>
              </a:rPr>
              <a:t>Acquisition product. Buy at week one, upgrade to the serum and stack at month three.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89320"/>
            <a:ext cx="11109960" cy="329184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4418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spc="200">
                <a:solidFill>
                  <a:srgbClr val="F7F1E6"/>
                </a:solidFill>
                <a:latin typeface="Helvetica Neue"/>
              </a:rPr>
              <a:t>FORM  Capsule + powder kit (CPG)   ·   SUPPLIERS  Makers Nutrition, ProTab, generic ginger CMs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05  ·  UNIT ECONOMICS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A1512"/>
                </a:solidFill>
                <a:latin typeface="Times New Roman"/>
              </a:rPr>
              <a:t>What each candidate would actually 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B5D4C"/>
                </a:solidFill>
                <a:latin typeface="Times New Roman"/>
              </a:rPr>
              <a:t>All three are CPG. Margins, CAC, and 12-month LTV indexed off GLP1_unit_economics.csv with per-candidate adjustments for COGS complexity.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018520" cy="36576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420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COGS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420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RETAIL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420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420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CAC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5420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LTV (12 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25420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PAYBACK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11018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9809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Nutrient Deficiency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8094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$9-$14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9809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98094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 i="0">
                <a:solidFill>
                  <a:srgbClr val="1A1512"/>
                </a:solidFill>
                <a:latin typeface="Helvetica Neue"/>
              </a:rPr>
              <a:t>65-80%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9809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$40-$70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98094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 i="0">
                <a:solidFill>
                  <a:srgbClr val="1A1512"/>
                </a:solidFill>
                <a:latin typeface="Helvetica Neue"/>
              </a:rPr>
              <a:t>$350-$700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980944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4-6 mos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4381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Hair Thinning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43814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$7-$11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4381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43814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 i="0">
                <a:solidFill>
                  <a:srgbClr val="1A1512"/>
                </a:solidFill>
                <a:latin typeface="Helvetica Neue"/>
              </a:rPr>
              <a:t>62-78%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4381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$45-$80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43814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 i="0">
                <a:solidFill>
                  <a:srgbClr val="1A1512"/>
                </a:solidFill>
                <a:latin typeface="Helvetica Neue"/>
              </a:rPr>
              <a:t>$280-$560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3438144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5-7 mos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49040"/>
            <a:ext cx="11018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8953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Nausea Titration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389534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$6-$10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8953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89534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 i="0">
                <a:solidFill>
                  <a:srgbClr val="1A1512"/>
                </a:solidFill>
                <a:latin typeface="Helvetica Neue"/>
              </a:rPr>
              <a:t>60-76%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8953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$35-$60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89534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 i="0">
                <a:solidFill>
                  <a:srgbClr val="1A1512"/>
                </a:solidFill>
                <a:latin typeface="Helvetica Neue"/>
              </a:rPr>
              <a:t>$180-$320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895344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4-5 mos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526280"/>
            <a:ext cx="11109960" cy="1554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617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12-MONTH LTV  ·  LOW TO 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011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Nutrient Deficiency Stack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80809" y="4937760"/>
            <a:ext cx="3280410" cy="164592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52659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$350-$700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669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Hair Thinning Stack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24727" y="5303520"/>
            <a:ext cx="2624328" cy="164592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40495" y="52669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$280-$560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6327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1A1512"/>
                </a:solidFill>
                <a:latin typeface="Helvetica Neue"/>
              </a:rPr>
              <a:t>Nausea Titration Kit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87467" y="5669280"/>
            <a:ext cx="1312164" cy="164592"/>
          </a:xfrm>
          <a:prstGeom prst="rect">
            <a:avLst/>
          </a:prstGeom>
          <a:solidFill>
            <a:srgbClr val="7A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1" y="56327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512"/>
                </a:solidFill>
                <a:latin typeface="Helvetica Neue"/>
              </a:rPr>
              <a:t>$180-$320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5852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599" y="5852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$200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19" y="5852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$400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39" y="5852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$600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59" y="5852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Helvetica Neue"/>
              </a:rPr>
              <a:t>$800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1A1512"/>
                </a:solidFill>
                <a:latin typeface="Times New Roman"/>
              </a:rPr>
              <a:t>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 spc="300">
                <a:solidFill>
                  <a:srgbClr val="7A3D14"/>
                </a:solidFill>
                <a:latin typeface="Helvetica Neue"/>
              </a:rPr>
              <a:t>06  ·  DECISION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AFTER.  ·  GLP-1 Complaints + Demand  ·  v1  ·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 spc="160">
                <a:solidFill>
                  <a:srgbClr val="6B5D4C"/>
                </a:solidFill>
                <a:latin typeface="Helvetica Neue"/>
              </a:rPr>
              <a:t>18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A1512"/>
                </a:solidFill>
                <a:latin typeface="Times New Roman"/>
              </a:rPr>
              <a:t>Three candidates, six dimensions, one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B5D4C"/>
                </a:solidFill>
                <a:latin typeface="Times New Roman"/>
              </a:rPr>
              <a:t>Higher is better on every column except CAC. Nutrient stack wins on five of six.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109960" cy="365760"/>
          </a:xfrm>
          <a:prstGeom prst="rect">
            <a:avLst/>
          </a:prstGeom>
          <a:solidFill>
            <a:srgbClr val="1A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420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FREQ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420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5420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BRAND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420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MOQ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420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WTP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REG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42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 spc="200">
                <a:solidFill>
                  <a:srgbClr val="F7F1E6"/>
                </a:solidFill>
                <a:latin typeface="Helvetica Neue"/>
              </a:rPr>
              <a:t>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11109960" cy="411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953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Nutrient Deficiency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5351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53512"/>
            <a:ext cx="868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53512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53512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953512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95351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95351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 i="0">
                <a:solidFill>
                  <a:srgbClr val="7A3D14"/>
                </a:solidFill>
                <a:latin typeface="Helvetica Neue"/>
              </a:rPr>
              <a:t>7.25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64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Hair Thinning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36499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364992"/>
            <a:ext cx="868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364992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364992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364992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36499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36499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 i="0">
                <a:solidFill>
                  <a:srgbClr val="7A3D14"/>
                </a:solidFill>
                <a:latin typeface="Helvetica Neue"/>
              </a:rPr>
              <a:t>5.35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57600"/>
            <a:ext cx="11109960" cy="411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37764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512"/>
                </a:solidFill>
                <a:latin typeface="Helvetica Neue"/>
              </a:rPr>
              <a:t>Nausea Titration Kit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77647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776472"/>
            <a:ext cx="868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3776472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776472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776472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77647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1A1512"/>
                </a:solidFill>
                <a:latin typeface="Helvetica Neue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77647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 i="0">
                <a:solidFill>
                  <a:srgbClr val="7A3D14"/>
                </a:solidFill>
                <a:latin typeface="Helvetica Neue"/>
              </a:rPr>
              <a:t>5.45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 spc="300">
                <a:solidFill>
                  <a:srgbClr val="7A3D14"/>
                </a:solidFill>
                <a:latin typeface="Helvetica Neue"/>
              </a:rPr>
              <a:t>WHAT WE SKIP, AND WHY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526280"/>
            <a:ext cx="11064240" cy="0"/>
          </a:xfrm>
          <a:prstGeom prst="line">
            <a:avLst/>
          </a:prstGeom>
          <a:ln w="12700">
            <a:solidFill>
              <a:srgbClr val="7A3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4663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1A1512"/>
                </a:solidFill>
                <a:latin typeface="Times New Roman"/>
              </a:rPr>
              <a:t>Muscle / collagen powder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663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MOQ blocker. Type II collagen CMs require 1,500+ units (SMPNutra, Makers, Vitaquest). Re-evaluate after the first stack hits 5,000 active subscribers.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8406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1A1512"/>
                </a:solidFill>
                <a:latin typeface="Times New Roman"/>
              </a:rPr>
              <a:t>Constipation bundle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508406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Commoditized. Metamucil and MiraLAX dominate at $5 to $15. Amazon and Costco entry imminent. Low WTP, no margin.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5046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1A1512"/>
                </a:solidFill>
                <a:latin typeface="Times New Roman"/>
              </a:rPr>
              <a:t>Mental health integration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50468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Wrong shape for a CPG brand. State-by-state therapist licensing, psychiatric coordination, $5K to $25K annual reg cost. The highest WTP signal in the category, but not the next SKU.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9253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1A1512"/>
                </a:solidFill>
                <a:latin typeface="Times New Roman"/>
              </a:rPr>
              <a:t>Peptide adjuncts (BPC-157, NAD+)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5925312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5D4C"/>
                </a:solidFill>
                <a:latin typeface="Helvetica Neue"/>
              </a:rPr>
              <a:t>Reg risk too high to defend. FDA compounding enforcement is active. Evidence base is preclinical.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 spc="400">
                <a:solidFill>
                  <a:srgbClr val="7A3D14"/>
                </a:solidFill>
                <a:latin typeface="Helvetica Neue"/>
              </a:rPr>
              <a:t>THE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1A1512"/>
                </a:solidFill>
                <a:latin typeface="Times New Roman"/>
              </a:rPr>
              <a:t>Three candidates pass.</a:t>
            </a:r>
          </a:p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1A1512"/>
                </a:solidFill>
                <a:latin typeface="Times New Roman"/>
              </a:rPr>
              <a:t>The call is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CANDIDATE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Nutrient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Score 7.25  ·  Best evidence + brand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17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CANDIDATE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937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Hair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4864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Score 5.35  ·  Closest line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617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 spc="300">
                <a:solidFill>
                  <a:srgbClr val="7A3D14"/>
                </a:solidFill>
                <a:latin typeface="Helvetica Neue"/>
              </a:rPr>
              <a:t>CANDIDATE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937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A1512"/>
                </a:solidFill>
                <a:latin typeface="Times New Roman"/>
              </a:rPr>
              <a:t>Nausea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4864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Helvetica Neue"/>
              </a:rPr>
              <a:t>Score 5.45  ·  Highest frequency, shortest LTV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 spc="300">
                <a:solidFill>
                  <a:srgbClr val="6B5D4C"/>
                </a:solidFill>
                <a:latin typeface="Helvetica Neue"/>
              </a:rPr>
              <a:t>AFTER.  ·  COMPLAINTS + DEMAND  ·  V1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